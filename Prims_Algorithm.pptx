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im's Algorithm" id="{972230ed-e44f-0c12-34c7-8f69ac9902ee}">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3D2F"/>
                </a:solidFill>
                <a:latin typeface="+mn-lt"/>
              </a:defRPr>
            </a:pPr>
            <a:r>
              <a:rPr sz="1400" b="0" i="0" u="none" strike="noStrike">
                <a:solidFill>
                  <a:srgbClr val="1E3D2F"/>
                </a:solidFill>
                <a:latin typeface="+mn-lt"/>
              </a:rPr>
              <a:t>Operations vs. V (log scale)</a:t>
            </a:r>
          </a:p>
        </c:rich>
      </c:tx>
      <c:layout/>
      <c:overlay val="0"/>
    </c:title>
    <c:autoTitleDeleted val="0"/>
    <c:plotArea>
      <c:layout/>
      <c:lineChart>
        <c:varyColors val="0"/>
        <c:ser>
          <c:idx val="0"/>
          <c:order val="0"/>
          <c:tx>
            <c:strRef>
              <c:f>Sheet1!$B$1</c:f>
              <c:strCache>
                <c:ptCount val="1"/>
                <c:pt idx="0">
                  <c:v>V² (matrix scan)</c:v>
                </c:pt>
              </c:strCache>
            </c:strRef>
          </c:tx>
          <c:spPr>
            <a:solidFill>
              <a:srgbClr val="1E3D2F"/>
            </a:solidFill>
            <a:ln w="38100" cap="flat">
              <a:solidFill>
                <a:srgbClr val="1E3D2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E3D2F"/>
              </a:solidFill>
              <a:ln w="9525" cap="flat">
                <a:solidFill>
                  <a:srgbClr val="1E3D2F"/>
                </a:solidFill>
                <a:prstDash val="solid"/>
                <a:round/>
              </a:ln>
              <a:effectLst/>
            </c:spPr>
          </c:marker>
          <c:cat>
            <c:multiLvlStrRef>
              <c:f>Sheet1!$A$2:$A$6</c:f>
              <c:multiLvlStrCache>
                <c:ptCount val="5"/>
                <c:lvl>
                  <c:pt idx="0">
                    <c:v>10</c:v>
                  </c:pt>
                  <c:pt idx="1">
                    <c:v>50</c:v>
                  </c:pt>
                  <c:pt idx="2">
                    <c:v>100</c:v>
                  </c:pt>
                  <c:pt idx="3">
                    <c:v>500</c:v>
                  </c:pt>
                  <c:pt idx="4">
                    <c:v>1000</c:v>
                  </c:pt>
                </c:lvl>
              </c:multiLvlStrCache>
            </c:multiLvlStrRef>
          </c:cat>
          <c:val>
            <c:numRef>
              <c:f>Sheet1!$B$2:$B$6</c:f>
              <c:numCache>
                <c:formatCode>General</c:formatCode>
                <c:ptCount val="5"/>
                <c:pt idx="0">
                  <c:v>100</c:v>
                </c:pt>
                <c:pt idx="1">
                  <c:v>2500</c:v>
                </c:pt>
                <c:pt idx="2">
                  <c:v>10000</c:v>
                </c:pt>
                <c:pt idx="3">
                  <c:v>250000</c:v>
                </c:pt>
                <c:pt idx="4">
                  <c:v>1000000</c:v>
                </c:pt>
              </c:numCache>
            </c:numRef>
          </c:val>
          <c:smooth val="0"/>
        </c:ser>
        <c:ser>
          <c:idx val="1"/>
          <c:order val="1"/>
          <c:tx>
            <c:strRef>
              <c:f>Sheet1!$C$1</c:f>
              <c:strCache>
                <c:ptCount val="1"/>
                <c:pt idx="0">
                  <c:v>E log V, sparse (E = 2V)</c:v>
                </c:pt>
              </c:strCache>
            </c:strRef>
          </c:tx>
          <c:spPr>
            <a:solidFill>
              <a:srgbClr val="F59E0B"/>
            </a:solidFill>
            <a:ln w="381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59E0B"/>
              </a:solidFill>
              <a:ln w="9525" cap="flat">
                <a:solidFill>
                  <a:srgbClr val="F59E0B"/>
                </a:solidFill>
                <a:prstDash val="solid"/>
                <a:round/>
              </a:ln>
              <a:effectLst/>
            </c:spPr>
          </c:marker>
          <c:cat>
            <c:multiLvlStrRef>
              <c:f>Sheet1!$A$2:$A$6</c:f>
              <c:multiLvlStrCache>
                <c:ptCount val="5"/>
                <c:lvl>
                  <c:pt idx="0">
                    <c:v>10</c:v>
                  </c:pt>
                  <c:pt idx="1">
                    <c:v>50</c:v>
                  </c:pt>
                  <c:pt idx="2">
                    <c:v>100</c:v>
                  </c:pt>
                  <c:pt idx="3">
                    <c:v>500</c:v>
                  </c:pt>
                  <c:pt idx="4">
                    <c:v>1000</c:v>
                  </c:pt>
                </c:lvl>
              </c:multiLvlStrCache>
            </c:multiLvlStrRef>
          </c:cat>
          <c:val>
            <c:numRef>
              <c:f>Sheet1!$C$2:$C$6</c:f>
              <c:numCache>
                <c:formatCode>General</c:formatCode>
                <c:ptCount val="5"/>
                <c:pt idx="0">
                  <c:v>66</c:v>
                </c:pt>
                <c:pt idx="1">
                  <c:v>564</c:v>
                </c:pt>
                <c:pt idx="2">
                  <c:v>1329</c:v>
                </c:pt>
                <c:pt idx="3">
                  <c:v>8966</c:v>
                </c:pt>
                <c:pt idx="4">
                  <c:v>19932</c:v>
                </c:pt>
              </c:numCache>
            </c:numRef>
          </c:val>
          <c:smooth val="0"/>
        </c:ser>
        <c:ser>
          <c:idx val="2"/>
          <c:order val="2"/>
          <c:tx>
            <c:strRef>
              <c:f>Sheet1!$D$1</c:f>
              <c:strCache>
                <c:ptCount val="1"/>
                <c:pt idx="0">
                  <c:v>E log V, dense (E = V²)</c:v>
                </c:pt>
              </c:strCache>
            </c:strRef>
          </c:tx>
          <c:spPr>
            <a:solidFill>
              <a:srgbClr val="B45309"/>
            </a:solidFill>
            <a:ln w="38100" cap="flat">
              <a:solidFill>
                <a:srgbClr val="B4530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B45309"/>
              </a:solidFill>
              <a:ln w="9525" cap="flat">
                <a:solidFill>
                  <a:srgbClr val="B45309"/>
                </a:solidFill>
                <a:prstDash val="solid"/>
                <a:round/>
              </a:ln>
              <a:effectLst/>
            </c:spPr>
          </c:marker>
          <c:cat>
            <c:multiLvlStrRef>
              <c:f>Sheet1!$A$2:$A$6</c:f>
              <c:multiLvlStrCache>
                <c:ptCount val="5"/>
                <c:lvl>
                  <c:pt idx="0">
                    <c:v>10</c:v>
                  </c:pt>
                  <c:pt idx="1">
                    <c:v>50</c:v>
                  </c:pt>
                  <c:pt idx="2">
                    <c:v>100</c:v>
                  </c:pt>
                  <c:pt idx="3">
                    <c:v>500</c:v>
                  </c:pt>
                  <c:pt idx="4">
                    <c:v>1000</c:v>
                  </c:pt>
                </c:lvl>
              </c:multiLvlStrCache>
            </c:multiLvlStrRef>
          </c:cat>
          <c:val>
            <c:numRef>
              <c:f>Sheet1!$D$2:$D$6</c:f>
              <c:numCache>
                <c:formatCode>General</c:formatCode>
                <c:ptCount val="5"/>
                <c:pt idx="0">
                  <c:v>332</c:v>
                </c:pt>
                <c:pt idx="1">
                  <c:v>14110</c:v>
                </c:pt>
                <c:pt idx="2">
                  <c:v>66439</c:v>
                </c:pt>
                <c:pt idx="3">
                  <c:v>2241446</c:v>
                </c:pt>
                <c:pt idx="4">
                  <c:v>9965784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2F6B4F"/>
                    </a:solidFill>
                    <a:latin typeface="+mn-lt"/>
                  </a:defRPr>
                </a:pPr>
                <a:r>
                  <a:rPr sz="1200" b="0" i="0" u="none" strike="noStrike">
                    <a:solidFill>
                      <a:srgbClr val="2F6B4F"/>
                    </a:solidFill>
                    <a:latin typeface="+mn-lt"/>
                  </a:rPr>
                  <a:t>V (vertices)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F6B4F"/>
                </a:solidFill>
                <a:latin typeface="+mn-lt"/>
              </a:defRPr>
            </a:pPr>
            <a:endParaRPr lang="en-US"/>
          </a:p>
        </c:txPr>
        <c:crossAx val="2094734552"/>
        <c:crosses val="autoZero"/>
        <c:auto val="1"/>
        <c:lblAlgn val="ctr"/>
        <c:noMultiLvlLbl val="1"/>
      </c:catAx>
      <c:valAx>
        <c:axId val="2094734552"/>
        <c:scaling>
          <c:logBase val="10"/>
          <c:orientation val="minMax"/>
        </c:scaling>
        <c:delete val="0"/>
        <c:axPos val="l"/>
        <c:majorGridlines>
          <c:spPr>
            <a:ln w="9525" cap="flat">
              <a:solidFill>
                <a:srgbClr val="DCEB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F6B4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F6B4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we look at a classic problem: how do you connect a set of points as cheaply as possible? Whether it's laying fiber between cities or wiring a circuit board, the answer often leads to Prim's Algorithm. By the end you'll know how it works, how to implement it efficiently, and when to choose it over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align on terms. A graph is vertices and edges; in a weighted graph each edge carries a cost. A tree is a connected graph with no cycles. A spanning tree touches every vertex of the original graph and always has exactly V minus 1 edges: add one more and you create a cycle, remove one and something disconnects. A single graph can have many spanning trees, which sets up our next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Among all spanning trees, the minimum spanning tree has the smallest total weight. The theory rests on the cut property: if you split the vertices into two groups, the cheapest edge crossing between them is always safe to include in an MST. This single idea is what makes greedy algorithms work here, and Prim's Algorithm is built directly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Prim's is a greedy algorithm: at every step it takes the cheapest option available right now and never looks back. Greedy strategies often fail on hard problems, but the cut property guarantees it works here. On history: Jarník found it in 1930, Prim rediscovered it in 1957 and Dijkstra in 1959. It carries Prim's name mostly because of timing and publication, a reminder that credit in science is messy.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idea in one sentence: start somewhere, then repeatedly add the cheapest edge that connects your growing tree to a vertex you haven't visited. Picture the tree as an island expanding outward; each step you look at every bridge from the island to the mainland and build the cheapest one. Each new edge brings in a brand-new vertex, so a cycle can never form. After V minus 1 steps every vertex is on the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trace it. We start at A. Two edges leave A: A–B costs 4 and A–C costs 2, so we take A–C. With {A, C}, the cheapest crossing edge is C–B at 1, so B joins. Next, with {A, B, C}, the options are B–D at 5, C–D at 8, and C–E at 10; we take B–D. Then D–E at 2 brings in E, and finally E–F at 3 beats D–F at 6. Five edges, total weight 13. Notice A–B was skipped even though it was cheap: both endpoints were already in the tree, so it would have formed a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practical version. Each vertex has a key, the cheapest edge currently connecting it to the tree, plus a parent pointer to rebuild the result. A min-heap gives us the next cheapest vertex quickly. Each time we pull a vertex out we mark it in the tree and check its neighbors: if we found a cheaper connection, we update the key and push a new entry. Because we don't remove old entries, we skip stale ones with the inMST check. It's a small trick that keeps the code simple and the performance excellent.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Complexity depends on how you store the graph and find the minimum edge. With an adjacency matrix and an array scan, each of V iterations scans V entries: O(V squared). With an adjacency list and a binary heap, each edge costs at most one heap operation of log V: O(E log V). Which is better depends on density. For dense graphs the matrix version is competitive; for sparse graphs like road networks the heap version wins decisively. Fibonacci heaps improve the theoretical bound, but their constant factors usually make them impractical.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algorithms are greedy and both give an optimal MST of equal total weight, but they think differently. Prim's grows a single tree outward, always staying connected. Kruskal's sorts all edges globally and adds them in order, skipping any that form a cycle, so it works with a forest that merges over time. In practice, dense graphs favor Prim's, sparse graphs favor Kruskal's, and if your data arrives as a plain edge list Kruskal's is the natural fit. If someone asks which is better, the honest answer is: it depends on your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outside the classroom? Anywhere you need to connect things cheaply, MSTs appear. Utilities use them to plan cable layouts. In machine learning you can build an MST over your data and cut the longest edges to discover natural clusters. For the traveling salesperson problem, the MST gives a fast approximation within twice the optimal tour for metric instances. In chip design, MST-style routing keeps wiring short. To wrap up: Prim's Algorithm shows how a simple greedy rule, backed by the cut property, delivers a provably optimal solution. Thank you,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E3D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566928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108960"/>
            <a:ext cx="5303520" cy="118872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B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B5A8"/>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B5A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5669280" cy="1188720"/>
          </a:xfrm>
          <a:prstGeom prst="rect">
            <a:avLst/>
          </a:prstGeom>
          <a:noFill/>
          <a:ln/>
        </p:spPr>
        <p:txBody>
          <a:bodyPr wrap="square" lIns="0" tIns="0" rIns="0" bIns="0" rtlCol="0" anchor="t"/>
          <a:lstStyle/>
          <a:p>
            <a:pPr algn="l" indent="0" marL="0">
              <a:buNone/>
            </a:pPr>
            <a:r>
              <a:rPr lang="en-US" sz="4800" b="1" dirty="0">
                <a:solidFill>
                  <a:schemeClr val="bg1"/>
                </a:solidFill>
              </a:rPr>
              <a:t>Prim's Algorithm</a:t>
            </a:r>
            <a:endParaRPr lang="en-US" sz="4800" dirty="0"/>
          </a:p>
        </p:txBody>
      </p:sp>
      <p:sp>
        <p:nvSpPr>
          <p:cNvPr id="3" name="Text 0"/>
          <p:cNvSpPr/>
          <p:nvPr>
            <p:ph idx="101" type="body" hasCustomPrompt="1"/>
          </p:nvPr>
        </p:nvSpPr>
        <p:spPr>
          <a:xfrm>
            <a:off x="731520" y="3108960"/>
            <a:ext cx="5303520" cy="1188720"/>
          </a:xfrm>
          <a:prstGeom prst="rect">
            <a:avLst/>
          </a:prstGeom>
          <a:noFill/>
          <a:ln/>
        </p:spPr>
        <p:txBody>
          <a:bodyPr wrap="square" lIns="0" tIns="0" rIns="0" bIns="0" rtlCol="0" anchor="t"/>
          <a:lstStyle/>
          <a:p>
            <a:pPr indent="0" marL="0">
              <a:buNone/>
            </a:pPr>
            <a:r>
              <a:rPr lang="en-US" sz="2200" dirty="0">
                <a:solidFill>
                  <a:schemeClr val="accent1"/>
                </a:solidFill>
              </a:rPr>
              <a:t>Building minimum spanning trees, one greedy step at a time</a:t>
            </a:r>
            <a:endParaRPr lang="en-US" sz="2200" dirty="0"/>
          </a:p>
        </p:txBody>
      </p:sp>
      <p:sp>
        <p:nvSpPr>
          <p:cNvPr id="4" name="Text 2"/>
          <p:cNvSpPr txBox="1"/>
          <p:nvPr/>
        </p:nvSpPr>
        <p:spPr>
          <a:xfrm>
            <a:off x="731520" y="5760720"/>
            <a:ext cx="5943600" cy="365760"/>
          </a:xfrm>
          <a:prstGeom prst="rect">
            <a:avLst/>
          </a:prstGeom>
          <a:noFill/>
          <a:ln/>
        </p:spPr>
        <p:txBody>
          <a:bodyPr wrap="square" lIns="0" tIns="0" rIns="0" bIns="0" rtlCol="0" anchor="t"/>
          <a:lstStyle/>
          <a:p>
            <a:pPr indent="0" marL="0">
              <a:buNone/>
            </a:pPr>
            <a:r>
              <a:rPr lang="en-US" sz="1400" dirty="0">
                <a:solidFill>
                  <a:srgbClr val="D5E6D9"/>
                </a:solidFill>
              </a:rPr>
              <a:t>[Your Name]  |  [Course / Organization]  |  [Date]</a:t>
            </a:r>
            <a:endParaRPr lang="en-US" sz="1400" dirty="0"/>
          </a:p>
        </p:txBody>
      </p:sp>
      <p:sp>
        <p:nvSpPr>
          <p:cNvPr id="5" name="Shape 3"/>
          <p:cNvSpPr/>
          <p:nvPr/>
        </p:nvSpPr>
        <p:spPr>
          <a:xfrm flipV="1">
            <a:off x="6675120" y="2103120"/>
            <a:ext cx="1371600" cy="1371600"/>
          </a:xfrm>
          <a:prstGeom prst="line">
            <a:avLst/>
          </a:prstGeom>
          <a:noFill/>
          <a:ln w="19050">
            <a:solidFill>
              <a:srgbClr val="5F7A68"/>
            </a:solidFill>
            <a:prstDash val="solid"/>
          </a:ln>
        </p:spPr>
      </p:sp>
      <p:sp>
        <p:nvSpPr>
          <p:cNvPr id="6" name="Shape 4"/>
          <p:cNvSpPr/>
          <p:nvPr/>
        </p:nvSpPr>
        <p:spPr>
          <a:xfrm flipV="1">
            <a:off x="8046720" y="2103120"/>
            <a:ext cx="2194560" cy="2743200"/>
          </a:xfrm>
          <a:prstGeom prst="line">
            <a:avLst/>
          </a:prstGeom>
          <a:noFill/>
          <a:ln w="19050">
            <a:solidFill>
              <a:srgbClr val="5F7A68"/>
            </a:solidFill>
            <a:prstDash val="solid"/>
          </a:ln>
        </p:spPr>
      </p:sp>
      <p:sp>
        <p:nvSpPr>
          <p:cNvPr id="7" name="Shape 5"/>
          <p:cNvSpPr/>
          <p:nvPr/>
        </p:nvSpPr>
        <p:spPr>
          <a:xfrm>
            <a:off x="8046720" y="4846320"/>
            <a:ext cx="2194560" cy="0"/>
          </a:xfrm>
          <a:prstGeom prst="line">
            <a:avLst/>
          </a:prstGeom>
          <a:noFill/>
          <a:ln w="19050">
            <a:solidFill>
              <a:srgbClr val="5F7A68"/>
            </a:solidFill>
            <a:prstDash val="solid"/>
          </a:ln>
        </p:spPr>
      </p:sp>
      <p:sp>
        <p:nvSpPr>
          <p:cNvPr id="8" name="Shape 6"/>
          <p:cNvSpPr/>
          <p:nvPr/>
        </p:nvSpPr>
        <p:spPr>
          <a:xfrm>
            <a:off x="10241280" y="2103120"/>
            <a:ext cx="1371600" cy="1371600"/>
          </a:xfrm>
          <a:prstGeom prst="line">
            <a:avLst/>
          </a:prstGeom>
          <a:noFill/>
          <a:ln w="19050">
            <a:solidFill>
              <a:srgbClr val="5F7A68"/>
            </a:solidFill>
            <a:prstDash val="solid"/>
          </a:ln>
        </p:spPr>
      </p:sp>
      <p:sp>
        <p:nvSpPr>
          <p:cNvPr id="9" name="Shape 7"/>
          <p:cNvSpPr/>
          <p:nvPr/>
        </p:nvSpPr>
        <p:spPr>
          <a:xfrm>
            <a:off x="6675120" y="3474720"/>
            <a:ext cx="1371600" cy="1371600"/>
          </a:xfrm>
          <a:prstGeom prst="line">
            <a:avLst/>
          </a:prstGeom>
          <a:noFill/>
          <a:ln w="50800">
            <a:solidFill>
              <a:schemeClr val="accent1"/>
            </a:solidFill>
            <a:prstDash val="solid"/>
          </a:ln>
        </p:spPr>
      </p:sp>
      <p:sp>
        <p:nvSpPr>
          <p:cNvPr id="10" name="Shape 8"/>
          <p:cNvSpPr/>
          <p:nvPr/>
        </p:nvSpPr>
        <p:spPr>
          <a:xfrm>
            <a:off x="8046720" y="2103120"/>
            <a:ext cx="0" cy="2743200"/>
          </a:xfrm>
          <a:prstGeom prst="line">
            <a:avLst/>
          </a:prstGeom>
          <a:noFill/>
          <a:ln w="50800">
            <a:solidFill>
              <a:schemeClr val="accent1"/>
            </a:solidFill>
            <a:prstDash val="solid"/>
          </a:ln>
        </p:spPr>
      </p:sp>
      <p:sp>
        <p:nvSpPr>
          <p:cNvPr id="11" name="Shape 9"/>
          <p:cNvSpPr/>
          <p:nvPr/>
        </p:nvSpPr>
        <p:spPr>
          <a:xfrm>
            <a:off x="8046720" y="2103120"/>
            <a:ext cx="2194560" cy="0"/>
          </a:xfrm>
          <a:prstGeom prst="line">
            <a:avLst/>
          </a:prstGeom>
          <a:noFill/>
          <a:ln w="50800">
            <a:solidFill>
              <a:schemeClr val="accent1"/>
            </a:solidFill>
            <a:prstDash val="solid"/>
          </a:ln>
        </p:spPr>
      </p:sp>
      <p:sp>
        <p:nvSpPr>
          <p:cNvPr id="12" name="Shape 10"/>
          <p:cNvSpPr/>
          <p:nvPr/>
        </p:nvSpPr>
        <p:spPr>
          <a:xfrm>
            <a:off x="10241280" y="2103120"/>
            <a:ext cx="0" cy="2743200"/>
          </a:xfrm>
          <a:prstGeom prst="line">
            <a:avLst/>
          </a:prstGeom>
          <a:noFill/>
          <a:ln w="50800">
            <a:solidFill>
              <a:schemeClr val="accent1"/>
            </a:solidFill>
            <a:prstDash val="solid"/>
          </a:ln>
        </p:spPr>
      </p:sp>
      <p:sp>
        <p:nvSpPr>
          <p:cNvPr id="13" name="Shape 11"/>
          <p:cNvSpPr/>
          <p:nvPr/>
        </p:nvSpPr>
        <p:spPr>
          <a:xfrm flipV="1">
            <a:off x="10241280" y="3474720"/>
            <a:ext cx="1371600" cy="1371600"/>
          </a:xfrm>
          <a:prstGeom prst="line">
            <a:avLst/>
          </a:prstGeom>
          <a:noFill/>
          <a:ln w="50800">
            <a:solidFill>
              <a:schemeClr val="accent1"/>
            </a:solidFill>
            <a:prstDash val="solid"/>
          </a:ln>
        </p:spPr>
      </p:sp>
      <p:sp>
        <p:nvSpPr>
          <p:cNvPr id="14" name="Shape 12"/>
          <p:cNvSpPr/>
          <p:nvPr/>
        </p:nvSpPr>
        <p:spPr>
          <a:xfrm>
            <a:off x="6464808" y="3264408"/>
            <a:ext cx="420624" cy="420624"/>
          </a:xfrm>
          <a:prstGeom prst="ellipse">
            <a:avLst/>
          </a:prstGeom>
          <a:solidFill>
            <a:schemeClr val="accent1"/>
          </a:solidFill>
          <a:ln w="22225">
            <a:solidFill>
              <a:schemeClr val="accent1"/>
            </a:solidFill>
            <a:prstDash val="solid"/>
          </a:ln>
        </p:spPr>
      </p:sp>
      <p:sp>
        <p:nvSpPr>
          <p:cNvPr id="15" name="Text 13"/>
          <p:cNvSpPr txBox="1"/>
          <p:nvPr/>
        </p:nvSpPr>
        <p:spPr>
          <a:xfrm>
            <a:off x="6464808" y="32644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16" name="Shape 14"/>
          <p:cNvSpPr/>
          <p:nvPr/>
        </p:nvSpPr>
        <p:spPr>
          <a:xfrm>
            <a:off x="7836408" y="1892808"/>
            <a:ext cx="420624" cy="420624"/>
          </a:xfrm>
          <a:prstGeom prst="ellipse">
            <a:avLst/>
          </a:prstGeom>
          <a:solidFill>
            <a:schemeClr val="accent1"/>
          </a:solidFill>
          <a:ln w="22225">
            <a:solidFill>
              <a:schemeClr val="accent1"/>
            </a:solidFill>
            <a:prstDash val="solid"/>
          </a:ln>
        </p:spPr>
      </p:sp>
      <p:sp>
        <p:nvSpPr>
          <p:cNvPr id="17" name="Text 15"/>
          <p:cNvSpPr txBox="1"/>
          <p:nvPr/>
        </p:nvSpPr>
        <p:spPr>
          <a:xfrm>
            <a:off x="7836408" y="18928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8" name="Shape 16"/>
          <p:cNvSpPr/>
          <p:nvPr/>
        </p:nvSpPr>
        <p:spPr>
          <a:xfrm>
            <a:off x="7836408" y="4636008"/>
            <a:ext cx="420624" cy="420624"/>
          </a:xfrm>
          <a:prstGeom prst="ellipse">
            <a:avLst/>
          </a:prstGeom>
          <a:solidFill>
            <a:schemeClr val="accent1"/>
          </a:solidFill>
          <a:ln w="22225">
            <a:solidFill>
              <a:schemeClr val="accent1"/>
            </a:solidFill>
            <a:prstDash val="solid"/>
          </a:ln>
        </p:spPr>
      </p:sp>
      <p:sp>
        <p:nvSpPr>
          <p:cNvPr id="19" name="Text 17"/>
          <p:cNvSpPr txBox="1"/>
          <p:nvPr/>
        </p:nvSpPr>
        <p:spPr>
          <a:xfrm>
            <a:off x="7836408" y="46360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20" name="Shape 18"/>
          <p:cNvSpPr/>
          <p:nvPr/>
        </p:nvSpPr>
        <p:spPr>
          <a:xfrm>
            <a:off x="10030968" y="1892808"/>
            <a:ext cx="420624" cy="420624"/>
          </a:xfrm>
          <a:prstGeom prst="ellipse">
            <a:avLst/>
          </a:prstGeom>
          <a:solidFill>
            <a:schemeClr val="accent1"/>
          </a:solidFill>
          <a:ln w="22225">
            <a:solidFill>
              <a:schemeClr val="accent1"/>
            </a:solidFill>
            <a:prstDash val="solid"/>
          </a:ln>
        </p:spPr>
      </p:sp>
      <p:sp>
        <p:nvSpPr>
          <p:cNvPr id="21" name="Text 19"/>
          <p:cNvSpPr txBox="1"/>
          <p:nvPr/>
        </p:nvSpPr>
        <p:spPr>
          <a:xfrm>
            <a:off x="10030968" y="18928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22" name="Shape 20"/>
          <p:cNvSpPr/>
          <p:nvPr/>
        </p:nvSpPr>
        <p:spPr>
          <a:xfrm>
            <a:off x="10030968" y="4636008"/>
            <a:ext cx="420624" cy="420624"/>
          </a:xfrm>
          <a:prstGeom prst="ellipse">
            <a:avLst/>
          </a:prstGeom>
          <a:solidFill>
            <a:schemeClr val="accent1"/>
          </a:solidFill>
          <a:ln w="22225">
            <a:solidFill>
              <a:schemeClr val="accent1"/>
            </a:solidFill>
            <a:prstDash val="solid"/>
          </a:ln>
        </p:spPr>
      </p:sp>
      <p:sp>
        <p:nvSpPr>
          <p:cNvPr id="23" name="Text 21"/>
          <p:cNvSpPr txBox="1"/>
          <p:nvPr/>
        </p:nvSpPr>
        <p:spPr>
          <a:xfrm>
            <a:off x="10030968" y="46360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24" name="Shape 22"/>
          <p:cNvSpPr/>
          <p:nvPr/>
        </p:nvSpPr>
        <p:spPr>
          <a:xfrm>
            <a:off x="11402568" y="3264408"/>
            <a:ext cx="420624" cy="420624"/>
          </a:xfrm>
          <a:prstGeom prst="ellipse">
            <a:avLst/>
          </a:prstGeom>
          <a:solidFill>
            <a:schemeClr val="accent1"/>
          </a:solidFill>
          <a:ln w="22225">
            <a:solidFill>
              <a:schemeClr val="accent1"/>
            </a:solidFill>
            <a:prstDash val="solid"/>
          </a:ln>
        </p:spPr>
      </p:sp>
      <p:sp>
        <p:nvSpPr>
          <p:cNvPr id="25" name="Text 23"/>
          <p:cNvSpPr txBox="1"/>
          <p:nvPr/>
        </p:nvSpPr>
        <p:spPr>
          <a:xfrm>
            <a:off x="11402568" y="32644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Graph Theory Foundations</a:t>
            </a:r>
            <a:endParaRPr lang="en-US" sz="3600" dirty="0"/>
          </a:p>
        </p:txBody>
      </p:sp>
      <p:sp>
        <p:nvSpPr>
          <p:cNvPr id="4" name="Shape 1"/>
          <p:cNvSpPr/>
          <p:nvPr/>
        </p:nvSpPr>
        <p:spPr>
          <a:xfrm>
            <a:off x="548640" y="1371600"/>
            <a:ext cx="3566160" cy="4480560"/>
          </a:xfrm>
          <a:prstGeom prst="roundRect">
            <a:avLst>
              <a:gd name="adj" fmla="val 3077"/>
            </a:avLst>
          </a:prstGeom>
          <a:solidFill>
            <a:schemeClr val="bg2"/>
          </a:solidFill>
          <a:ln/>
        </p:spPr>
      </p:sp>
      <p:sp>
        <p:nvSpPr>
          <p:cNvPr id="5" name="Shape 2"/>
          <p:cNvSpPr/>
          <p:nvPr/>
        </p:nvSpPr>
        <p:spPr>
          <a:xfrm flipV="1">
            <a:off x="1051560" y="1828800"/>
            <a:ext cx="1188720" cy="1188720"/>
          </a:xfrm>
          <a:prstGeom prst="line">
            <a:avLst/>
          </a:prstGeom>
          <a:noFill/>
          <a:ln w="19050">
            <a:solidFill>
              <a:srgbClr val="C9D6CC"/>
            </a:solidFill>
            <a:prstDash val="solid"/>
          </a:ln>
        </p:spPr>
      </p:sp>
      <p:sp>
        <p:nvSpPr>
          <p:cNvPr id="6" name="Shape 3"/>
          <p:cNvSpPr/>
          <p:nvPr/>
        </p:nvSpPr>
        <p:spPr>
          <a:xfrm>
            <a:off x="1051560" y="3017520"/>
            <a:ext cx="1188720" cy="1188720"/>
          </a:xfrm>
          <a:prstGeom prst="line">
            <a:avLst/>
          </a:prstGeom>
          <a:noFill/>
          <a:ln w="19050">
            <a:solidFill>
              <a:srgbClr val="C9D6CC"/>
            </a:solidFill>
            <a:prstDash val="solid"/>
          </a:ln>
        </p:spPr>
      </p:sp>
      <p:sp>
        <p:nvSpPr>
          <p:cNvPr id="7" name="Shape 4"/>
          <p:cNvSpPr/>
          <p:nvPr/>
        </p:nvSpPr>
        <p:spPr>
          <a:xfrm>
            <a:off x="2240280" y="1828800"/>
            <a:ext cx="0" cy="2377440"/>
          </a:xfrm>
          <a:prstGeom prst="line">
            <a:avLst/>
          </a:prstGeom>
          <a:noFill/>
          <a:ln w="19050">
            <a:solidFill>
              <a:srgbClr val="C9D6CC"/>
            </a:solidFill>
            <a:prstDash val="solid"/>
          </a:ln>
        </p:spPr>
      </p:sp>
      <p:sp>
        <p:nvSpPr>
          <p:cNvPr id="8" name="Shape 5"/>
          <p:cNvSpPr/>
          <p:nvPr/>
        </p:nvSpPr>
        <p:spPr>
          <a:xfrm>
            <a:off x="2240280" y="1828800"/>
            <a:ext cx="1426464" cy="0"/>
          </a:xfrm>
          <a:prstGeom prst="line">
            <a:avLst/>
          </a:prstGeom>
          <a:noFill/>
          <a:ln w="19050">
            <a:solidFill>
              <a:srgbClr val="C9D6CC"/>
            </a:solidFill>
            <a:prstDash val="solid"/>
          </a:ln>
        </p:spPr>
      </p:sp>
      <p:sp>
        <p:nvSpPr>
          <p:cNvPr id="9" name="Shape 6"/>
          <p:cNvSpPr/>
          <p:nvPr/>
        </p:nvSpPr>
        <p:spPr>
          <a:xfrm>
            <a:off x="2240280" y="4206240"/>
            <a:ext cx="1426464" cy="0"/>
          </a:xfrm>
          <a:prstGeom prst="line">
            <a:avLst/>
          </a:prstGeom>
          <a:noFill/>
          <a:ln w="19050">
            <a:solidFill>
              <a:srgbClr val="C9D6CC"/>
            </a:solidFill>
            <a:prstDash val="solid"/>
          </a:ln>
        </p:spPr>
      </p:sp>
      <p:sp>
        <p:nvSpPr>
          <p:cNvPr id="10" name="Shape 7"/>
          <p:cNvSpPr/>
          <p:nvPr/>
        </p:nvSpPr>
        <p:spPr>
          <a:xfrm>
            <a:off x="3666744" y="1828800"/>
            <a:ext cx="0" cy="2377440"/>
          </a:xfrm>
          <a:prstGeom prst="line">
            <a:avLst/>
          </a:prstGeom>
          <a:noFill/>
          <a:ln w="19050">
            <a:solidFill>
              <a:srgbClr val="C9D6CC"/>
            </a:solidFill>
            <a:prstDash val="solid"/>
          </a:ln>
        </p:spPr>
      </p:sp>
      <p:sp>
        <p:nvSpPr>
          <p:cNvPr id="11" name="Shape 8"/>
          <p:cNvSpPr/>
          <p:nvPr/>
        </p:nvSpPr>
        <p:spPr>
          <a:xfrm>
            <a:off x="1508760" y="2295144"/>
            <a:ext cx="274320" cy="256032"/>
          </a:xfrm>
          <a:prstGeom prst="roundRect">
            <a:avLst>
              <a:gd name="adj" fmla="val 28571"/>
            </a:avLst>
          </a:prstGeom>
          <a:solidFill>
            <a:srgbClr val="FFFFFF"/>
          </a:solidFill>
          <a:ln w="12700">
            <a:solidFill>
              <a:srgbClr val="C9D6CC"/>
            </a:solidFill>
            <a:prstDash val="solid"/>
          </a:ln>
        </p:spPr>
      </p:sp>
      <p:sp>
        <p:nvSpPr>
          <p:cNvPr id="12" name="Text 9"/>
          <p:cNvSpPr txBox="1"/>
          <p:nvPr/>
        </p:nvSpPr>
        <p:spPr>
          <a:xfrm>
            <a:off x="1508760" y="229514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4</a:t>
            </a:r>
            <a:endParaRPr lang="en-US" sz="1100" dirty="0"/>
          </a:p>
        </p:txBody>
      </p:sp>
      <p:sp>
        <p:nvSpPr>
          <p:cNvPr id="13" name="Shape 10"/>
          <p:cNvSpPr/>
          <p:nvPr/>
        </p:nvSpPr>
        <p:spPr>
          <a:xfrm>
            <a:off x="1508760" y="3483864"/>
            <a:ext cx="274320" cy="256032"/>
          </a:xfrm>
          <a:prstGeom prst="roundRect">
            <a:avLst>
              <a:gd name="adj" fmla="val 28571"/>
            </a:avLst>
          </a:prstGeom>
          <a:solidFill>
            <a:srgbClr val="FFFFFF"/>
          </a:solidFill>
          <a:ln w="12700">
            <a:solidFill>
              <a:srgbClr val="C9D6CC"/>
            </a:solidFill>
            <a:prstDash val="solid"/>
          </a:ln>
        </p:spPr>
      </p:sp>
      <p:sp>
        <p:nvSpPr>
          <p:cNvPr id="14" name="Text 11"/>
          <p:cNvSpPr txBox="1"/>
          <p:nvPr/>
        </p:nvSpPr>
        <p:spPr>
          <a:xfrm>
            <a:off x="1508760" y="348386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2</a:t>
            </a:r>
            <a:endParaRPr lang="en-US" sz="1100" dirty="0"/>
          </a:p>
        </p:txBody>
      </p:sp>
      <p:sp>
        <p:nvSpPr>
          <p:cNvPr id="15" name="Shape 12"/>
          <p:cNvSpPr/>
          <p:nvPr/>
        </p:nvSpPr>
        <p:spPr>
          <a:xfrm>
            <a:off x="2103120" y="2889504"/>
            <a:ext cx="274320" cy="256032"/>
          </a:xfrm>
          <a:prstGeom prst="roundRect">
            <a:avLst>
              <a:gd name="adj" fmla="val 28571"/>
            </a:avLst>
          </a:prstGeom>
          <a:solidFill>
            <a:srgbClr val="FFFFFF"/>
          </a:solidFill>
          <a:ln w="12700">
            <a:solidFill>
              <a:srgbClr val="C9D6CC"/>
            </a:solidFill>
            <a:prstDash val="solid"/>
          </a:ln>
        </p:spPr>
      </p:sp>
      <p:sp>
        <p:nvSpPr>
          <p:cNvPr id="16" name="Text 13"/>
          <p:cNvSpPr txBox="1"/>
          <p:nvPr/>
        </p:nvSpPr>
        <p:spPr>
          <a:xfrm>
            <a:off x="2103120" y="288950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1</a:t>
            </a:r>
            <a:endParaRPr lang="en-US" sz="1100" dirty="0"/>
          </a:p>
        </p:txBody>
      </p:sp>
      <p:sp>
        <p:nvSpPr>
          <p:cNvPr id="17" name="Shape 14"/>
          <p:cNvSpPr/>
          <p:nvPr/>
        </p:nvSpPr>
        <p:spPr>
          <a:xfrm>
            <a:off x="2816352" y="1700784"/>
            <a:ext cx="274320" cy="256032"/>
          </a:xfrm>
          <a:prstGeom prst="roundRect">
            <a:avLst>
              <a:gd name="adj" fmla="val 28571"/>
            </a:avLst>
          </a:prstGeom>
          <a:solidFill>
            <a:srgbClr val="FFFFFF"/>
          </a:solidFill>
          <a:ln w="12700">
            <a:solidFill>
              <a:srgbClr val="C9D6CC"/>
            </a:solidFill>
            <a:prstDash val="solid"/>
          </a:ln>
        </p:spPr>
      </p:sp>
      <p:sp>
        <p:nvSpPr>
          <p:cNvPr id="18" name="Text 15"/>
          <p:cNvSpPr txBox="1"/>
          <p:nvPr/>
        </p:nvSpPr>
        <p:spPr>
          <a:xfrm>
            <a:off x="2816352" y="170078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5</a:t>
            </a:r>
            <a:endParaRPr lang="en-US" sz="1100" dirty="0"/>
          </a:p>
        </p:txBody>
      </p:sp>
      <p:sp>
        <p:nvSpPr>
          <p:cNvPr id="19" name="Shape 16"/>
          <p:cNvSpPr/>
          <p:nvPr/>
        </p:nvSpPr>
        <p:spPr>
          <a:xfrm>
            <a:off x="2816352" y="4078224"/>
            <a:ext cx="274320" cy="256032"/>
          </a:xfrm>
          <a:prstGeom prst="roundRect">
            <a:avLst>
              <a:gd name="adj" fmla="val 28571"/>
            </a:avLst>
          </a:prstGeom>
          <a:solidFill>
            <a:srgbClr val="FFFFFF"/>
          </a:solidFill>
          <a:ln w="12700">
            <a:solidFill>
              <a:srgbClr val="C9D6CC"/>
            </a:solidFill>
            <a:prstDash val="solid"/>
          </a:ln>
        </p:spPr>
      </p:sp>
      <p:sp>
        <p:nvSpPr>
          <p:cNvPr id="20" name="Text 17"/>
          <p:cNvSpPr txBox="1"/>
          <p:nvPr/>
        </p:nvSpPr>
        <p:spPr>
          <a:xfrm>
            <a:off x="2816352" y="407822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3</a:t>
            </a:r>
            <a:endParaRPr lang="en-US" sz="1100" dirty="0"/>
          </a:p>
        </p:txBody>
      </p:sp>
      <p:sp>
        <p:nvSpPr>
          <p:cNvPr id="21" name="Shape 18"/>
          <p:cNvSpPr/>
          <p:nvPr/>
        </p:nvSpPr>
        <p:spPr>
          <a:xfrm>
            <a:off x="3529584" y="2889504"/>
            <a:ext cx="274320" cy="256032"/>
          </a:xfrm>
          <a:prstGeom prst="roundRect">
            <a:avLst>
              <a:gd name="adj" fmla="val 28571"/>
            </a:avLst>
          </a:prstGeom>
          <a:solidFill>
            <a:srgbClr val="FFFFFF"/>
          </a:solidFill>
          <a:ln w="12700">
            <a:solidFill>
              <a:srgbClr val="C9D6CC"/>
            </a:solidFill>
            <a:prstDash val="solid"/>
          </a:ln>
        </p:spPr>
      </p:sp>
      <p:sp>
        <p:nvSpPr>
          <p:cNvPr id="22" name="Text 19"/>
          <p:cNvSpPr txBox="1"/>
          <p:nvPr/>
        </p:nvSpPr>
        <p:spPr>
          <a:xfrm>
            <a:off x="3529584" y="288950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2</a:t>
            </a:r>
            <a:endParaRPr lang="en-US" sz="1100" dirty="0"/>
          </a:p>
        </p:txBody>
      </p:sp>
      <p:sp>
        <p:nvSpPr>
          <p:cNvPr id="23" name="Shape 20"/>
          <p:cNvSpPr/>
          <p:nvPr/>
        </p:nvSpPr>
        <p:spPr>
          <a:xfrm>
            <a:off x="841248" y="2807208"/>
            <a:ext cx="420624" cy="420624"/>
          </a:xfrm>
          <a:prstGeom prst="ellipse">
            <a:avLst/>
          </a:prstGeom>
          <a:solidFill>
            <a:srgbClr val="FFFFFF"/>
          </a:solidFill>
          <a:ln w="22225">
            <a:solidFill>
              <a:srgbClr val="2F6B4F"/>
            </a:solidFill>
            <a:prstDash val="solid"/>
          </a:ln>
        </p:spPr>
      </p:sp>
      <p:sp>
        <p:nvSpPr>
          <p:cNvPr id="24" name="Text 21"/>
          <p:cNvSpPr txBox="1"/>
          <p:nvPr/>
        </p:nvSpPr>
        <p:spPr>
          <a:xfrm>
            <a:off x="841248" y="280720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A</a:t>
            </a:r>
            <a:endParaRPr lang="en-US" sz="1400" dirty="0"/>
          </a:p>
        </p:txBody>
      </p:sp>
      <p:sp>
        <p:nvSpPr>
          <p:cNvPr id="25" name="Shape 22"/>
          <p:cNvSpPr/>
          <p:nvPr/>
        </p:nvSpPr>
        <p:spPr>
          <a:xfrm>
            <a:off x="2029968" y="1618488"/>
            <a:ext cx="420624" cy="420624"/>
          </a:xfrm>
          <a:prstGeom prst="ellipse">
            <a:avLst/>
          </a:prstGeom>
          <a:solidFill>
            <a:srgbClr val="FFFFFF"/>
          </a:solidFill>
          <a:ln w="22225">
            <a:solidFill>
              <a:srgbClr val="2F6B4F"/>
            </a:solidFill>
            <a:prstDash val="solid"/>
          </a:ln>
        </p:spPr>
      </p:sp>
      <p:sp>
        <p:nvSpPr>
          <p:cNvPr id="26" name="Text 23"/>
          <p:cNvSpPr txBox="1"/>
          <p:nvPr/>
        </p:nvSpPr>
        <p:spPr>
          <a:xfrm>
            <a:off x="2029968" y="161848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B</a:t>
            </a:r>
            <a:endParaRPr lang="en-US" sz="1400" dirty="0"/>
          </a:p>
        </p:txBody>
      </p:sp>
      <p:sp>
        <p:nvSpPr>
          <p:cNvPr id="27" name="Shape 24"/>
          <p:cNvSpPr/>
          <p:nvPr/>
        </p:nvSpPr>
        <p:spPr>
          <a:xfrm>
            <a:off x="2029968" y="3995928"/>
            <a:ext cx="420624" cy="420624"/>
          </a:xfrm>
          <a:prstGeom prst="ellipse">
            <a:avLst/>
          </a:prstGeom>
          <a:solidFill>
            <a:srgbClr val="FFFFFF"/>
          </a:solidFill>
          <a:ln w="22225">
            <a:solidFill>
              <a:srgbClr val="2F6B4F"/>
            </a:solidFill>
            <a:prstDash val="solid"/>
          </a:ln>
        </p:spPr>
      </p:sp>
      <p:sp>
        <p:nvSpPr>
          <p:cNvPr id="28" name="Text 25"/>
          <p:cNvSpPr txBox="1"/>
          <p:nvPr/>
        </p:nvSpPr>
        <p:spPr>
          <a:xfrm>
            <a:off x="2029968" y="399592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C</a:t>
            </a:r>
            <a:endParaRPr lang="en-US" sz="1400" dirty="0"/>
          </a:p>
        </p:txBody>
      </p:sp>
      <p:sp>
        <p:nvSpPr>
          <p:cNvPr id="29" name="Shape 26"/>
          <p:cNvSpPr/>
          <p:nvPr/>
        </p:nvSpPr>
        <p:spPr>
          <a:xfrm>
            <a:off x="3456432" y="1618488"/>
            <a:ext cx="420624" cy="420624"/>
          </a:xfrm>
          <a:prstGeom prst="ellipse">
            <a:avLst/>
          </a:prstGeom>
          <a:solidFill>
            <a:srgbClr val="FFFFFF"/>
          </a:solidFill>
          <a:ln w="22225">
            <a:solidFill>
              <a:srgbClr val="2F6B4F"/>
            </a:solidFill>
            <a:prstDash val="solid"/>
          </a:ln>
        </p:spPr>
      </p:sp>
      <p:sp>
        <p:nvSpPr>
          <p:cNvPr id="30" name="Text 27"/>
          <p:cNvSpPr txBox="1"/>
          <p:nvPr/>
        </p:nvSpPr>
        <p:spPr>
          <a:xfrm>
            <a:off x="3456432" y="161848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D</a:t>
            </a:r>
            <a:endParaRPr lang="en-US" sz="1400" dirty="0"/>
          </a:p>
        </p:txBody>
      </p:sp>
      <p:sp>
        <p:nvSpPr>
          <p:cNvPr id="31" name="Shape 28"/>
          <p:cNvSpPr/>
          <p:nvPr/>
        </p:nvSpPr>
        <p:spPr>
          <a:xfrm>
            <a:off x="3456432" y="3995928"/>
            <a:ext cx="420624" cy="420624"/>
          </a:xfrm>
          <a:prstGeom prst="ellipse">
            <a:avLst/>
          </a:prstGeom>
          <a:solidFill>
            <a:srgbClr val="FFFFFF"/>
          </a:solidFill>
          <a:ln w="22225">
            <a:solidFill>
              <a:srgbClr val="2F6B4F"/>
            </a:solidFill>
            <a:prstDash val="solid"/>
          </a:ln>
        </p:spPr>
      </p:sp>
      <p:sp>
        <p:nvSpPr>
          <p:cNvPr id="32" name="Text 29"/>
          <p:cNvSpPr txBox="1"/>
          <p:nvPr/>
        </p:nvSpPr>
        <p:spPr>
          <a:xfrm>
            <a:off x="3456432" y="399592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E</a:t>
            </a:r>
            <a:endParaRPr lang="en-US" sz="1400" dirty="0"/>
          </a:p>
        </p:txBody>
      </p:sp>
      <p:sp>
        <p:nvSpPr>
          <p:cNvPr id="33" name="Text 30"/>
          <p:cNvSpPr txBox="1"/>
          <p:nvPr/>
        </p:nvSpPr>
        <p:spPr>
          <a:xfrm>
            <a:off x="822960" y="45262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Weighted graph G = (V, E)</a:t>
            </a:r>
            <a:endParaRPr lang="en-US" sz="2000" dirty="0"/>
          </a:p>
        </p:txBody>
      </p:sp>
      <p:sp>
        <p:nvSpPr>
          <p:cNvPr id="34" name="Text 31"/>
          <p:cNvSpPr txBox="1"/>
          <p:nvPr/>
        </p:nvSpPr>
        <p:spPr>
          <a:xfrm>
            <a:off x="822960" y="4937760"/>
            <a:ext cx="3017520" cy="822960"/>
          </a:xfrm>
          <a:prstGeom prst="rect">
            <a:avLst/>
          </a:prstGeom>
          <a:noFill/>
          <a:ln/>
        </p:spPr>
        <p:txBody>
          <a:bodyPr wrap="square" lIns="0" tIns="0" rIns="0" bIns="0" rtlCol="0" anchor="t"/>
          <a:lstStyle/>
          <a:p>
            <a:pPr indent="0" marL="0">
              <a:buNone/>
            </a:pPr>
            <a:r>
              <a:rPr lang="en-US" sz="1500" dirty="0">
                <a:solidFill>
                  <a:schemeClr val="tx2"/>
                </a:solidFill>
              </a:rPr>
              <a:t>Vertices joined by edges; each edge has a cost (distance, price, latency).</a:t>
            </a:r>
            <a:endParaRPr lang="en-US" sz="1500" dirty="0"/>
          </a:p>
        </p:txBody>
      </p:sp>
      <p:sp>
        <p:nvSpPr>
          <p:cNvPr id="35" name="Shape 32"/>
          <p:cNvSpPr/>
          <p:nvPr/>
        </p:nvSpPr>
        <p:spPr>
          <a:xfrm>
            <a:off x="4297680" y="1371600"/>
            <a:ext cx="3566160" cy="4480560"/>
          </a:xfrm>
          <a:prstGeom prst="roundRect">
            <a:avLst>
              <a:gd name="adj" fmla="val 3077"/>
            </a:avLst>
          </a:prstGeom>
          <a:solidFill>
            <a:schemeClr val="bg2"/>
          </a:solidFill>
          <a:ln/>
        </p:spPr>
      </p:sp>
      <p:sp>
        <p:nvSpPr>
          <p:cNvPr id="36" name="Shape 33"/>
          <p:cNvSpPr/>
          <p:nvPr/>
        </p:nvSpPr>
        <p:spPr>
          <a:xfrm>
            <a:off x="5989320" y="1828800"/>
            <a:ext cx="1426464" cy="0"/>
          </a:xfrm>
          <a:prstGeom prst="line">
            <a:avLst/>
          </a:prstGeom>
          <a:noFill/>
          <a:ln w="19050">
            <a:solidFill>
              <a:srgbClr val="C9D6CC"/>
            </a:solidFill>
            <a:prstDash val="solid"/>
          </a:ln>
        </p:spPr>
      </p:sp>
      <p:sp>
        <p:nvSpPr>
          <p:cNvPr id="37" name="Shape 34"/>
          <p:cNvSpPr/>
          <p:nvPr/>
        </p:nvSpPr>
        <p:spPr>
          <a:xfrm>
            <a:off x="5989320" y="4206240"/>
            <a:ext cx="1426464" cy="0"/>
          </a:xfrm>
          <a:prstGeom prst="line">
            <a:avLst/>
          </a:prstGeom>
          <a:noFill/>
          <a:ln w="19050">
            <a:solidFill>
              <a:srgbClr val="C9D6CC"/>
            </a:solidFill>
            <a:prstDash val="solid"/>
          </a:ln>
        </p:spPr>
      </p:sp>
      <p:sp>
        <p:nvSpPr>
          <p:cNvPr id="38" name="Shape 35"/>
          <p:cNvSpPr/>
          <p:nvPr/>
        </p:nvSpPr>
        <p:spPr>
          <a:xfrm>
            <a:off x="7415784" y="1828800"/>
            <a:ext cx="0" cy="2377440"/>
          </a:xfrm>
          <a:prstGeom prst="line">
            <a:avLst/>
          </a:prstGeom>
          <a:noFill/>
          <a:ln w="19050">
            <a:solidFill>
              <a:srgbClr val="C9D6CC"/>
            </a:solidFill>
            <a:prstDash val="solid"/>
          </a:ln>
        </p:spPr>
      </p:sp>
      <p:sp>
        <p:nvSpPr>
          <p:cNvPr id="39" name="Shape 36"/>
          <p:cNvSpPr/>
          <p:nvPr/>
        </p:nvSpPr>
        <p:spPr>
          <a:xfrm flipV="1">
            <a:off x="4800600" y="1828800"/>
            <a:ext cx="1188720" cy="1188720"/>
          </a:xfrm>
          <a:prstGeom prst="line">
            <a:avLst/>
          </a:prstGeom>
          <a:noFill/>
          <a:ln w="38100">
            <a:solidFill>
              <a:schemeClr val="accent3"/>
            </a:solidFill>
            <a:prstDash val="dash"/>
          </a:ln>
        </p:spPr>
      </p:sp>
      <p:sp>
        <p:nvSpPr>
          <p:cNvPr id="40" name="Shape 37"/>
          <p:cNvSpPr/>
          <p:nvPr/>
        </p:nvSpPr>
        <p:spPr>
          <a:xfrm>
            <a:off x="4800600" y="3017520"/>
            <a:ext cx="1188720" cy="1188720"/>
          </a:xfrm>
          <a:prstGeom prst="line">
            <a:avLst/>
          </a:prstGeom>
          <a:noFill/>
          <a:ln w="38100">
            <a:solidFill>
              <a:schemeClr val="accent3"/>
            </a:solidFill>
            <a:prstDash val="dash"/>
          </a:ln>
        </p:spPr>
      </p:sp>
      <p:sp>
        <p:nvSpPr>
          <p:cNvPr id="41" name="Shape 38"/>
          <p:cNvSpPr/>
          <p:nvPr/>
        </p:nvSpPr>
        <p:spPr>
          <a:xfrm>
            <a:off x="5989320" y="1828800"/>
            <a:ext cx="0" cy="2377440"/>
          </a:xfrm>
          <a:prstGeom prst="line">
            <a:avLst/>
          </a:prstGeom>
          <a:noFill/>
          <a:ln w="38100">
            <a:solidFill>
              <a:schemeClr val="accent3"/>
            </a:solidFill>
            <a:prstDash val="dash"/>
          </a:ln>
        </p:spPr>
      </p:sp>
      <p:sp>
        <p:nvSpPr>
          <p:cNvPr id="42" name="Shape 39"/>
          <p:cNvSpPr/>
          <p:nvPr/>
        </p:nvSpPr>
        <p:spPr>
          <a:xfrm>
            <a:off x="6565392" y="1700784"/>
            <a:ext cx="274320" cy="256032"/>
          </a:xfrm>
          <a:prstGeom prst="roundRect">
            <a:avLst>
              <a:gd name="adj" fmla="val 28571"/>
            </a:avLst>
          </a:prstGeom>
          <a:solidFill>
            <a:srgbClr val="FFFFFF"/>
          </a:solidFill>
          <a:ln w="12700">
            <a:solidFill>
              <a:srgbClr val="C9D6CC"/>
            </a:solidFill>
            <a:prstDash val="solid"/>
          </a:ln>
        </p:spPr>
      </p:sp>
      <p:sp>
        <p:nvSpPr>
          <p:cNvPr id="43" name="Text 40"/>
          <p:cNvSpPr txBox="1"/>
          <p:nvPr/>
        </p:nvSpPr>
        <p:spPr>
          <a:xfrm>
            <a:off x="6565392" y="170078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5</a:t>
            </a:r>
            <a:endParaRPr lang="en-US" sz="1100" dirty="0"/>
          </a:p>
        </p:txBody>
      </p:sp>
      <p:sp>
        <p:nvSpPr>
          <p:cNvPr id="44" name="Shape 41"/>
          <p:cNvSpPr/>
          <p:nvPr/>
        </p:nvSpPr>
        <p:spPr>
          <a:xfrm>
            <a:off x="6565392" y="4078224"/>
            <a:ext cx="274320" cy="256032"/>
          </a:xfrm>
          <a:prstGeom prst="roundRect">
            <a:avLst>
              <a:gd name="adj" fmla="val 28571"/>
            </a:avLst>
          </a:prstGeom>
          <a:solidFill>
            <a:srgbClr val="FFFFFF"/>
          </a:solidFill>
          <a:ln w="12700">
            <a:solidFill>
              <a:srgbClr val="C9D6CC"/>
            </a:solidFill>
            <a:prstDash val="solid"/>
          </a:ln>
        </p:spPr>
      </p:sp>
      <p:sp>
        <p:nvSpPr>
          <p:cNvPr id="45" name="Text 42"/>
          <p:cNvSpPr txBox="1"/>
          <p:nvPr/>
        </p:nvSpPr>
        <p:spPr>
          <a:xfrm>
            <a:off x="6565392" y="407822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3</a:t>
            </a:r>
            <a:endParaRPr lang="en-US" sz="1100" dirty="0"/>
          </a:p>
        </p:txBody>
      </p:sp>
      <p:sp>
        <p:nvSpPr>
          <p:cNvPr id="46" name="Shape 43"/>
          <p:cNvSpPr/>
          <p:nvPr/>
        </p:nvSpPr>
        <p:spPr>
          <a:xfrm>
            <a:off x="7278624" y="2889504"/>
            <a:ext cx="274320" cy="256032"/>
          </a:xfrm>
          <a:prstGeom prst="roundRect">
            <a:avLst>
              <a:gd name="adj" fmla="val 28571"/>
            </a:avLst>
          </a:prstGeom>
          <a:solidFill>
            <a:srgbClr val="FFFFFF"/>
          </a:solidFill>
          <a:ln w="12700">
            <a:solidFill>
              <a:srgbClr val="C9D6CC"/>
            </a:solidFill>
            <a:prstDash val="solid"/>
          </a:ln>
        </p:spPr>
      </p:sp>
      <p:sp>
        <p:nvSpPr>
          <p:cNvPr id="47" name="Text 44"/>
          <p:cNvSpPr txBox="1"/>
          <p:nvPr/>
        </p:nvSpPr>
        <p:spPr>
          <a:xfrm>
            <a:off x="7278624" y="288950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2</a:t>
            </a:r>
            <a:endParaRPr lang="en-US" sz="1100" dirty="0"/>
          </a:p>
        </p:txBody>
      </p:sp>
      <p:sp>
        <p:nvSpPr>
          <p:cNvPr id="48" name="Shape 45"/>
          <p:cNvSpPr/>
          <p:nvPr/>
        </p:nvSpPr>
        <p:spPr>
          <a:xfrm>
            <a:off x="5257800" y="2295144"/>
            <a:ext cx="274320" cy="256032"/>
          </a:xfrm>
          <a:prstGeom prst="roundRect">
            <a:avLst>
              <a:gd name="adj" fmla="val 28571"/>
            </a:avLst>
          </a:prstGeom>
          <a:solidFill>
            <a:srgbClr val="FFFFFF"/>
          </a:solidFill>
          <a:ln w="12700">
            <a:solidFill>
              <a:schemeClr val="accent3"/>
            </a:solidFill>
            <a:prstDash val="solid"/>
          </a:ln>
        </p:spPr>
      </p:sp>
      <p:sp>
        <p:nvSpPr>
          <p:cNvPr id="49" name="Text 46"/>
          <p:cNvSpPr txBox="1"/>
          <p:nvPr/>
        </p:nvSpPr>
        <p:spPr>
          <a:xfrm>
            <a:off x="5257800" y="229514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4</a:t>
            </a:r>
            <a:endParaRPr lang="en-US" sz="1100" dirty="0"/>
          </a:p>
        </p:txBody>
      </p:sp>
      <p:sp>
        <p:nvSpPr>
          <p:cNvPr id="50" name="Shape 47"/>
          <p:cNvSpPr/>
          <p:nvPr/>
        </p:nvSpPr>
        <p:spPr>
          <a:xfrm>
            <a:off x="5257800" y="3483864"/>
            <a:ext cx="274320" cy="256032"/>
          </a:xfrm>
          <a:prstGeom prst="roundRect">
            <a:avLst>
              <a:gd name="adj" fmla="val 28571"/>
            </a:avLst>
          </a:prstGeom>
          <a:solidFill>
            <a:srgbClr val="FFFFFF"/>
          </a:solidFill>
          <a:ln w="12700">
            <a:solidFill>
              <a:schemeClr val="accent3"/>
            </a:solidFill>
            <a:prstDash val="solid"/>
          </a:ln>
        </p:spPr>
      </p:sp>
      <p:sp>
        <p:nvSpPr>
          <p:cNvPr id="51" name="Text 48"/>
          <p:cNvSpPr txBox="1"/>
          <p:nvPr/>
        </p:nvSpPr>
        <p:spPr>
          <a:xfrm>
            <a:off x="5257800" y="348386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2</a:t>
            </a:r>
            <a:endParaRPr lang="en-US" sz="1100" dirty="0"/>
          </a:p>
        </p:txBody>
      </p:sp>
      <p:sp>
        <p:nvSpPr>
          <p:cNvPr id="52" name="Shape 49"/>
          <p:cNvSpPr/>
          <p:nvPr/>
        </p:nvSpPr>
        <p:spPr>
          <a:xfrm>
            <a:off x="5852160" y="2889504"/>
            <a:ext cx="274320" cy="256032"/>
          </a:xfrm>
          <a:prstGeom prst="roundRect">
            <a:avLst>
              <a:gd name="adj" fmla="val 28571"/>
            </a:avLst>
          </a:prstGeom>
          <a:solidFill>
            <a:srgbClr val="FFFFFF"/>
          </a:solidFill>
          <a:ln w="12700">
            <a:solidFill>
              <a:schemeClr val="accent3"/>
            </a:solidFill>
            <a:prstDash val="solid"/>
          </a:ln>
        </p:spPr>
      </p:sp>
      <p:sp>
        <p:nvSpPr>
          <p:cNvPr id="53" name="Text 50"/>
          <p:cNvSpPr txBox="1"/>
          <p:nvPr/>
        </p:nvSpPr>
        <p:spPr>
          <a:xfrm>
            <a:off x="5852160" y="288950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1</a:t>
            </a:r>
            <a:endParaRPr lang="en-US" sz="1100" dirty="0"/>
          </a:p>
        </p:txBody>
      </p:sp>
      <p:sp>
        <p:nvSpPr>
          <p:cNvPr id="54" name="Shape 51"/>
          <p:cNvSpPr/>
          <p:nvPr/>
        </p:nvSpPr>
        <p:spPr>
          <a:xfrm>
            <a:off x="4590288" y="2807208"/>
            <a:ext cx="420624" cy="420624"/>
          </a:xfrm>
          <a:prstGeom prst="ellipse">
            <a:avLst/>
          </a:prstGeom>
          <a:solidFill>
            <a:srgbClr val="FFFFFF"/>
          </a:solidFill>
          <a:ln w="22225">
            <a:solidFill>
              <a:srgbClr val="2F6B4F"/>
            </a:solidFill>
            <a:prstDash val="solid"/>
          </a:ln>
        </p:spPr>
      </p:sp>
      <p:sp>
        <p:nvSpPr>
          <p:cNvPr id="55" name="Text 52"/>
          <p:cNvSpPr txBox="1"/>
          <p:nvPr/>
        </p:nvSpPr>
        <p:spPr>
          <a:xfrm>
            <a:off x="4590288" y="280720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A</a:t>
            </a:r>
            <a:endParaRPr lang="en-US" sz="1400" dirty="0"/>
          </a:p>
        </p:txBody>
      </p:sp>
      <p:sp>
        <p:nvSpPr>
          <p:cNvPr id="56" name="Shape 53"/>
          <p:cNvSpPr/>
          <p:nvPr/>
        </p:nvSpPr>
        <p:spPr>
          <a:xfrm>
            <a:off x="5779008" y="1618488"/>
            <a:ext cx="420624" cy="420624"/>
          </a:xfrm>
          <a:prstGeom prst="ellipse">
            <a:avLst/>
          </a:prstGeom>
          <a:solidFill>
            <a:srgbClr val="FFFFFF"/>
          </a:solidFill>
          <a:ln w="22225">
            <a:solidFill>
              <a:srgbClr val="2F6B4F"/>
            </a:solidFill>
            <a:prstDash val="solid"/>
          </a:ln>
        </p:spPr>
      </p:sp>
      <p:sp>
        <p:nvSpPr>
          <p:cNvPr id="57" name="Text 54"/>
          <p:cNvSpPr txBox="1"/>
          <p:nvPr/>
        </p:nvSpPr>
        <p:spPr>
          <a:xfrm>
            <a:off x="5779008" y="161848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B</a:t>
            </a:r>
            <a:endParaRPr lang="en-US" sz="1400" dirty="0"/>
          </a:p>
        </p:txBody>
      </p:sp>
      <p:sp>
        <p:nvSpPr>
          <p:cNvPr id="58" name="Shape 55"/>
          <p:cNvSpPr/>
          <p:nvPr/>
        </p:nvSpPr>
        <p:spPr>
          <a:xfrm>
            <a:off x="5779008" y="3995928"/>
            <a:ext cx="420624" cy="420624"/>
          </a:xfrm>
          <a:prstGeom prst="ellipse">
            <a:avLst/>
          </a:prstGeom>
          <a:solidFill>
            <a:srgbClr val="FFFFFF"/>
          </a:solidFill>
          <a:ln w="22225">
            <a:solidFill>
              <a:srgbClr val="2F6B4F"/>
            </a:solidFill>
            <a:prstDash val="solid"/>
          </a:ln>
        </p:spPr>
      </p:sp>
      <p:sp>
        <p:nvSpPr>
          <p:cNvPr id="59" name="Text 56"/>
          <p:cNvSpPr txBox="1"/>
          <p:nvPr/>
        </p:nvSpPr>
        <p:spPr>
          <a:xfrm>
            <a:off x="5779008" y="399592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C</a:t>
            </a:r>
            <a:endParaRPr lang="en-US" sz="1400" dirty="0"/>
          </a:p>
        </p:txBody>
      </p:sp>
      <p:sp>
        <p:nvSpPr>
          <p:cNvPr id="60" name="Shape 57"/>
          <p:cNvSpPr/>
          <p:nvPr/>
        </p:nvSpPr>
        <p:spPr>
          <a:xfrm>
            <a:off x="7205472" y="1618488"/>
            <a:ext cx="420624" cy="420624"/>
          </a:xfrm>
          <a:prstGeom prst="ellipse">
            <a:avLst/>
          </a:prstGeom>
          <a:solidFill>
            <a:srgbClr val="FFFFFF"/>
          </a:solidFill>
          <a:ln w="22225">
            <a:solidFill>
              <a:srgbClr val="2F6B4F"/>
            </a:solidFill>
            <a:prstDash val="solid"/>
          </a:ln>
        </p:spPr>
      </p:sp>
      <p:sp>
        <p:nvSpPr>
          <p:cNvPr id="61" name="Text 58"/>
          <p:cNvSpPr txBox="1"/>
          <p:nvPr/>
        </p:nvSpPr>
        <p:spPr>
          <a:xfrm>
            <a:off x="7205472" y="161848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D</a:t>
            </a:r>
            <a:endParaRPr lang="en-US" sz="1400" dirty="0"/>
          </a:p>
        </p:txBody>
      </p:sp>
      <p:sp>
        <p:nvSpPr>
          <p:cNvPr id="62" name="Shape 59"/>
          <p:cNvSpPr/>
          <p:nvPr/>
        </p:nvSpPr>
        <p:spPr>
          <a:xfrm>
            <a:off x="7205472" y="3995928"/>
            <a:ext cx="420624" cy="420624"/>
          </a:xfrm>
          <a:prstGeom prst="ellipse">
            <a:avLst/>
          </a:prstGeom>
          <a:solidFill>
            <a:srgbClr val="FFFFFF"/>
          </a:solidFill>
          <a:ln w="22225">
            <a:solidFill>
              <a:srgbClr val="2F6B4F"/>
            </a:solidFill>
            <a:prstDash val="solid"/>
          </a:ln>
        </p:spPr>
      </p:sp>
      <p:sp>
        <p:nvSpPr>
          <p:cNvPr id="63" name="Text 60"/>
          <p:cNvSpPr txBox="1"/>
          <p:nvPr/>
        </p:nvSpPr>
        <p:spPr>
          <a:xfrm>
            <a:off x="7205472" y="399592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E</a:t>
            </a:r>
            <a:endParaRPr lang="en-US" sz="1400" dirty="0"/>
          </a:p>
        </p:txBody>
      </p:sp>
      <p:sp>
        <p:nvSpPr>
          <p:cNvPr id="64" name="Text 61"/>
          <p:cNvSpPr txBox="1"/>
          <p:nvPr/>
        </p:nvSpPr>
        <p:spPr>
          <a:xfrm>
            <a:off x="4572000" y="45262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Cycles are redundant</a:t>
            </a:r>
            <a:endParaRPr lang="en-US" sz="2000" dirty="0"/>
          </a:p>
        </p:txBody>
      </p:sp>
      <p:sp>
        <p:nvSpPr>
          <p:cNvPr id="65" name="Text 62"/>
          <p:cNvSpPr txBox="1"/>
          <p:nvPr/>
        </p:nvSpPr>
        <p:spPr>
          <a:xfrm>
            <a:off x="4572000" y="4937760"/>
            <a:ext cx="3017520" cy="822960"/>
          </a:xfrm>
          <a:prstGeom prst="rect">
            <a:avLst/>
          </a:prstGeom>
          <a:noFill/>
          <a:ln/>
        </p:spPr>
        <p:txBody>
          <a:bodyPr wrap="square" lIns="0" tIns="0" rIns="0" bIns="0" rtlCol="0" anchor="t"/>
          <a:lstStyle/>
          <a:p>
            <a:pPr indent="0" marL="0">
              <a:buNone/>
            </a:pPr>
            <a:r>
              <a:rPr lang="en-US" sz="1500" dirty="0">
                <a:solidFill>
                  <a:schemeClr val="tx2"/>
                </a:solidFill>
              </a:rPr>
              <a:t>A tree is connected with no cycles. The red cycle A–B–C can lose an edge.</a:t>
            </a:r>
            <a:endParaRPr lang="en-US" sz="1500" dirty="0"/>
          </a:p>
        </p:txBody>
      </p:sp>
      <p:sp>
        <p:nvSpPr>
          <p:cNvPr id="66" name="Shape 63"/>
          <p:cNvSpPr/>
          <p:nvPr/>
        </p:nvSpPr>
        <p:spPr>
          <a:xfrm>
            <a:off x="8046720" y="1371600"/>
            <a:ext cx="3566160" cy="4480560"/>
          </a:xfrm>
          <a:prstGeom prst="roundRect">
            <a:avLst>
              <a:gd name="adj" fmla="val 3077"/>
            </a:avLst>
          </a:prstGeom>
          <a:solidFill>
            <a:schemeClr val="bg2"/>
          </a:solidFill>
          <a:ln/>
        </p:spPr>
      </p:sp>
      <p:sp>
        <p:nvSpPr>
          <p:cNvPr id="67" name="Shape 64"/>
          <p:cNvSpPr/>
          <p:nvPr/>
        </p:nvSpPr>
        <p:spPr>
          <a:xfrm flipV="1">
            <a:off x="8549640" y="1828800"/>
            <a:ext cx="1188720" cy="1188720"/>
          </a:xfrm>
          <a:prstGeom prst="line">
            <a:avLst/>
          </a:prstGeom>
          <a:noFill/>
          <a:ln w="19050">
            <a:solidFill>
              <a:srgbClr val="C9D6CC"/>
            </a:solidFill>
            <a:prstDash val="solid"/>
          </a:ln>
        </p:spPr>
      </p:sp>
      <p:sp>
        <p:nvSpPr>
          <p:cNvPr id="68" name="Shape 65"/>
          <p:cNvSpPr/>
          <p:nvPr/>
        </p:nvSpPr>
        <p:spPr>
          <a:xfrm>
            <a:off x="9738360" y="1828800"/>
            <a:ext cx="1426464" cy="0"/>
          </a:xfrm>
          <a:prstGeom prst="line">
            <a:avLst/>
          </a:prstGeom>
          <a:noFill/>
          <a:ln w="19050">
            <a:solidFill>
              <a:srgbClr val="C9D6CC"/>
            </a:solidFill>
            <a:prstDash val="solid"/>
          </a:ln>
        </p:spPr>
      </p:sp>
      <p:sp>
        <p:nvSpPr>
          <p:cNvPr id="69" name="Shape 66"/>
          <p:cNvSpPr/>
          <p:nvPr/>
        </p:nvSpPr>
        <p:spPr>
          <a:xfrm>
            <a:off x="8549640" y="3017520"/>
            <a:ext cx="1188720" cy="1188720"/>
          </a:xfrm>
          <a:prstGeom prst="line">
            <a:avLst/>
          </a:prstGeom>
          <a:noFill/>
          <a:ln w="50800">
            <a:solidFill>
              <a:schemeClr val="accent1"/>
            </a:solidFill>
            <a:prstDash val="solid"/>
          </a:ln>
        </p:spPr>
      </p:sp>
      <p:sp>
        <p:nvSpPr>
          <p:cNvPr id="70" name="Shape 67"/>
          <p:cNvSpPr/>
          <p:nvPr/>
        </p:nvSpPr>
        <p:spPr>
          <a:xfrm>
            <a:off x="9738360" y="1828800"/>
            <a:ext cx="0" cy="2377440"/>
          </a:xfrm>
          <a:prstGeom prst="line">
            <a:avLst/>
          </a:prstGeom>
          <a:noFill/>
          <a:ln w="50800">
            <a:solidFill>
              <a:schemeClr val="accent1"/>
            </a:solidFill>
            <a:prstDash val="solid"/>
          </a:ln>
        </p:spPr>
      </p:sp>
      <p:sp>
        <p:nvSpPr>
          <p:cNvPr id="71" name="Shape 68"/>
          <p:cNvSpPr/>
          <p:nvPr/>
        </p:nvSpPr>
        <p:spPr>
          <a:xfrm>
            <a:off x="9738360" y="4206240"/>
            <a:ext cx="1426464" cy="0"/>
          </a:xfrm>
          <a:prstGeom prst="line">
            <a:avLst/>
          </a:prstGeom>
          <a:noFill/>
          <a:ln w="50800">
            <a:solidFill>
              <a:schemeClr val="accent1"/>
            </a:solidFill>
            <a:prstDash val="solid"/>
          </a:ln>
        </p:spPr>
      </p:sp>
      <p:sp>
        <p:nvSpPr>
          <p:cNvPr id="72" name="Shape 69"/>
          <p:cNvSpPr/>
          <p:nvPr/>
        </p:nvSpPr>
        <p:spPr>
          <a:xfrm>
            <a:off x="11164824" y="1828800"/>
            <a:ext cx="0" cy="2377440"/>
          </a:xfrm>
          <a:prstGeom prst="line">
            <a:avLst/>
          </a:prstGeom>
          <a:noFill/>
          <a:ln w="50800">
            <a:solidFill>
              <a:schemeClr val="accent1"/>
            </a:solidFill>
            <a:prstDash val="solid"/>
          </a:ln>
        </p:spPr>
      </p:sp>
      <p:sp>
        <p:nvSpPr>
          <p:cNvPr id="73" name="Shape 70"/>
          <p:cNvSpPr/>
          <p:nvPr/>
        </p:nvSpPr>
        <p:spPr>
          <a:xfrm>
            <a:off x="9006840" y="2295144"/>
            <a:ext cx="274320" cy="256032"/>
          </a:xfrm>
          <a:prstGeom prst="roundRect">
            <a:avLst>
              <a:gd name="adj" fmla="val 28571"/>
            </a:avLst>
          </a:prstGeom>
          <a:solidFill>
            <a:srgbClr val="FFFFFF"/>
          </a:solidFill>
          <a:ln w="12700">
            <a:solidFill>
              <a:srgbClr val="C9D6CC"/>
            </a:solidFill>
            <a:prstDash val="solid"/>
          </a:ln>
        </p:spPr>
      </p:sp>
      <p:sp>
        <p:nvSpPr>
          <p:cNvPr id="74" name="Text 71"/>
          <p:cNvSpPr txBox="1"/>
          <p:nvPr/>
        </p:nvSpPr>
        <p:spPr>
          <a:xfrm>
            <a:off x="9006840" y="229514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4</a:t>
            </a:r>
            <a:endParaRPr lang="en-US" sz="1100" dirty="0"/>
          </a:p>
        </p:txBody>
      </p:sp>
      <p:sp>
        <p:nvSpPr>
          <p:cNvPr id="75" name="Shape 72"/>
          <p:cNvSpPr/>
          <p:nvPr/>
        </p:nvSpPr>
        <p:spPr>
          <a:xfrm>
            <a:off x="10314432" y="1700784"/>
            <a:ext cx="274320" cy="256032"/>
          </a:xfrm>
          <a:prstGeom prst="roundRect">
            <a:avLst>
              <a:gd name="adj" fmla="val 28571"/>
            </a:avLst>
          </a:prstGeom>
          <a:solidFill>
            <a:srgbClr val="FFFFFF"/>
          </a:solidFill>
          <a:ln w="12700">
            <a:solidFill>
              <a:srgbClr val="C9D6CC"/>
            </a:solidFill>
            <a:prstDash val="solid"/>
          </a:ln>
        </p:spPr>
      </p:sp>
      <p:sp>
        <p:nvSpPr>
          <p:cNvPr id="76" name="Text 73"/>
          <p:cNvSpPr txBox="1"/>
          <p:nvPr/>
        </p:nvSpPr>
        <p:spPr>
          <a:xfrm>
            <a:off x="10314432" y="170078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5</a:t>
            </a:r>
            <a:endParaRPr lang="en-US" sz="1100" dirty="0"/>
          </a:p>
        </p:txBody>
      </p:sp>
      <p:sp>
        <p:nvSpPr>
          <p:cNvPr id="77" name="Shape 74"/>
          <p:cNvSpPr/>
          <p:nvPr/>
        </p:nvSpPr>
        <p:spPr>
          <a:xfrm>
            <a:off x="9006840" y="3483864"/>
            <a:ext cx="274320" cy="256032"/>
          </a:xfrm>
          <a:prstGeom prst="roundRect">
            <a:avLst>
              <a:gd name="adj" fmla="val 28571"/>
            </a:avLst>
          </a:prstGeom>
          <a:solidFill>
            <a:schemeClr val="accent1"/>
          </a:solidFill>
          <a:ln w="12700">
            <a:solidFill>
              <a:schemeClr val="accent1"/>
            </a:solidFill>
            <a:prstDash val="solid"/>
          </a:ln>
        </p:spPr>
      </p:sp>
      <p:sp>
        <p:nvSpPr>
          <p:cNvPr id="78" name="Text 75"/>
          <p:cNvSpPr txBox="1"/>
          <p:nvPr/>
        </p:nvSpPr>
        <p:spPr>
          <a:xfrm>
            <a:off x="9006840" y="3483864"/>
            <a:ext cx="274320"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79" name="Shape 76"/>
          <p:cNvSpPr/>
          <p:nvPr/>
        </p:nvSpPr>
        <p:spPr>
          <a:xfrm>
            <a:off x="9601200" y="2889504"/>
            <a:ext cx="274320" cy="256032"/>
          </a:xfrm>
          <a:prstGeom prst="roundRect">
            <a:avLst>
              <a:gd name="adj" fmla="val 28571"/>
            </a:avLst>
          </a:prstGeom>
          <a:solidFill>
            <a:schemeClr val="accent1"/>
          </a:solidFill>
          <a:ln w="12700">
            <a:solidFill>
              <a:schemeClr val="accent1"/>
            </a:solidFill>
            <a:prstDash val="solid"/>
          </a:ln>
        </p:spPr>
      </p:sp>
      <p:sp>
        <p:nvSpPr>
          <p:cNvPr id="80" name="Text 77"/>
          <p:cNvSpPr txBox="1"/>
          <p:nvPr/>
        </p:nvSpPr>
        <p:spPr>
          <a:xfrm>
            <a:off x="9601200" y="2889504"/>
            <a:ext cx="274320" cy="25603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1" name="Shape 78"/>
          <p:cNvSpPr/>
          <p:nvPr/>
        </p:nvSpPr>
        <p:spPr>
          <a:xfrm>
            <a:off x="10314432" y="4078224"/>
            <a:ext cx="274320" cy="256032"/>
          </a:xfrm>
          <a:prstGeom prst="roundRect">
            <a:avLst>
              <a:gd name="adj" fmla="val 28571"/>
            </a:avLst>
          </a:prstGeom>
          <a:solidFill>
            <a:schemeClr val="accent1"/>
          </a:solidFill>
          <a:ln w="12700">
            <a:solidFill>
              <a:schemeClr val="accent1"/>
            </a:solidFill>
            <a:prstDash val="solid"/>
          </a:ln>
        </p:spPr>
      </p:sp>
      <p:sp>
        <p:nvSpPr>
          <p:cNvPr id="82" name="Text 79"/>
          <p:cNvSpPr txBox="1"/>
          <p:nvPr/>
        </p:nvSpPr>
        <p:spPr>
          <a:xfrm>
            <a:off x="10314432" y="4078224"/>
            <a:ext cx="274320" cy="25603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83" name="Shape 80"/>
          <p:cNvSpPr/>
          <p:nvPr/>
        </p:nvSpPr>
        <p:spPr>
          <a:xfrm>
            <a:off x="11027664" y="2889504"/>
            <a:ext cx="274320" cy="256032"/>
          </a:xfrm>
          <a:prstGeom prst="roundRect">
            <a:avLst>
              <a:gd name="adj" fmla="val 28571"/>
            </a:avLst>
          </a:prstGeom>
          <a:solidFill>
            <a:schemeClr val="accent1"/>
          </a:solidFill>
          <a:ln w="12700">
            <a:solidFill>
              <a:schemeClr val="accent1"/>
            </a:solidFill>
            <a:prstDash val="solid"/>
          </a:ln>
        </p:spPr>
      </p:sp>
      <p:sp>
        <p:nvSpPr>
          <p:cNvPr id="84" name="Text 81"/>
          <p:cNvSpPr txBox="1"/>
          <p:nvPr/>
        </p:nvSpPr>
        <p:spPr>
          <a:xfrm>
            <a:off x="11027664" y="2889504"/>
            <a:ext cx="274320"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85" name="Shape 82"/>
          <p:cNvSpPr/>
          <p:nvPr/>
        </p:nvSpPr>
        <p:spPr>
          <a:xfrm>
            <a:off x="8339328" y="2807208"/>
            <a:ext cx="420624" cy="420624"/>
          </a:xfrm>
          <a:prstGeom prst="ellipse">
            <a:avLst/>
          </a:prstGeom>
          <a:solidFill>
            <a:schemeClr val="accent1"/>
          </a:solidFill>
          <a:ln w="22225">
            <a:solidFill>
              <a:schemeClr val="accent1"/>
            </a:solidFill>
            <a:prstDash val="solid"/>
          </a:ln>
        </p:spPr>
      </p:sp>
      <p:sp>
        <p:nvSpPr>
          <p:cNvPr id="86" name="Text 83"/>
          <p:cNvSpPr txBox="1"/>
          <p:nvPr/>
        </p:nvSpPr>
        <p:spPr>
          <a:xfrm>
            <a:off x="8339328" y="28072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87" name="Shape 84"/>
          <p:cNvSpPr/>
          <p:nvPr/>
        </p:nvSpPr>
        <p:spPr>
          <a:xfrm>
            <a:off x="9528048" y="1618488"/>
            <a:ext cx="420624" cy="420624"/>
          </a:xfrm>
          <a:prstGeom prst="ellipse">
            <a:avLst/>
          </a:prstGeom>
          <a:solidFill>
            <a:schemeClr val="accent1"/>
          </a:solidFill>
          <a:ln w="22225">
            <a:solidFill>
              <a:schemeClr val="accent1"/>
            </a:solidFill>
            <a:prstDash val="solid"/>
          </a:ln>
        </p:spPr>
      </p:sp>
      <p:sp>
        <p:nvSpPr>
          <p:cNvPr id="88" name="Text 85"/>
          <p:cNvSpPr txBox="1"/>
          <p:nvPr/>
        </p:nvSpPr>
        <p:spPr>
          <a:xfrm>
            <a:off x="9528048" y="16184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89" name="Shape 86"/>
          <p:cNvSpPr/>
          <p:nvPr/>
        </p:nvSpPr>
        <p:spPr>
          <a:xfrm>
            <a:off x="9528048" y="3995928"/>
            <a:ext cx="420624" cy="420624"/>
          </a:xfrm>
          <a:prstGeom prst="ellipse">
            <a:avLst/>
          </a:prstGeom>
          <a:solidFill>
            <a:schemeClr val="accent1"/>
          </a:solidFill>
          <a:ln w="22225">
            <a:solidFill>
              <a:schemeClr val="accent1"/>
            </a:solidFill>
            <a:prstDash val="solid"/>
          </a:ln>
        </p:spPr>
      </p:sp>
      <p:sp>
        <p:nvSpPr>
          <p:cNvPr id="90" name="Text 87"/>
          <p:cNvSpPr txBox="1"/>
          <p:nvPr/>
        </p:nvSpPr>
        <p:spPr>
          <a:xfrm>
            <a:off x="9528048" y="3995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91" name="Shape 88"/>
          <p:cNvSpPr/>
          <p:nvPr/>
        </p:nvSpPr>
        <p:spPr>
          <a:xfrm>
            <a:off x="10954512" y="1618488"/>
            <a:ext cx="420624" cy="420624"/>
          </a:xfrm>
          <a:prstGeom prst="ellipse">
            <a:avLst/>
          </a:prstGeom>
          <a:solidFill>
            <a:schemeClr val="accent1"/>
          </a:solidFill>
          <a:ln w="22225">
            <a:solidFill>
              <a:schemeClr val="accent1"/>
            </a:solidFill>
            <a:prstDash val="solid"/>
          </a:ln>
        </p:spPr>
      </p:sp>
      <p:sp>
        <p:nvSpPr>
          <p:cNvPr id="92" name="Text 89"/>
          <p:cNvSpPr txBox="1"/>
          <p:nvPr/>
        </p:nvSpPr>
        <p:spPr>
          <a:xfrm>
            <a:off x="10954512" y="16184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93" name="Shape 90"/>
          <p:cNvSpPr/>
          <p:nvPr/>
        </p:nvSpPr>
        <p:spPr>
          <a:xfrm>
            <a:off x="10954512" y="3995928"/>
            <a:ext cx="420624" cy="420624"/>
          </a:xfrm>
          <a:prstGeom prst="ellipse">
            <a:avLst/>
          </a:prstGeom>
          <a:solidFill>
            <a:schemeClr val="accent1"/>
          </a:solidFill>
          <a:ln w="22225">
            <a:solidFill>
              <a:schemeClr val="accent1"/>
            </a:solidFill>
            <a:prstDash val="solid"/>
          </a:ln>
        </p:spPr>
      </p:sp>
      <p:sp>
        <p:nvSpPr>
          <p:cNvPr id="94" name="Text 91"/>
          <p:cNvSpPr txBox="1"/>
          <p:nvPr/>
        </p:nvSpPr>
        <p:spPr>
          <a:xfrm>
            <a:off x="10954512" y="399592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95" name="Text 92"/>
          <p:cNvSpPr txBox="1"/>
          <p:nvPr/>
        </p:nvSpPr>
        <p:spPr>
          <a:xfrm>
            <a:off x="8321040" y="45262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A spanning tree</a:t>
            </a:r>
            <a:endParaRPr lang="en-US" sz="2000" dirty="0"/>
          </a:p>
        </p:txBody>
      </p:sp>
      <p:sp>
        <p:nvSpPr>
          <p:cNvPr id="96" name="Text 93"/>
          <p:cNvSpPr txBox="1"/>
          <p:nvPr/>
        </p:nvSpPr>
        <p:spPr>
          <a:xfrm>
            <a:off x="8321040" y="4937760"/>
            <a:ext cx="3017520" cy="822960"/>
          </a:xfrm>
          <a:prstGeom prst="rect">
            <a:avLst/>
          </a:prstGeom>
          <a:noFill/>
          <a:ln/>
        </p:spPr>
        <p:txBody>
          <a:bodyPr wrap="square" lIns="0" tIns="0" rIns="0" bIns="0" rtlCol="0" anchor="t"/>
          <a:lstStyle/>
          <a:p>
            <a:pPr indent="0" marL="0">
              <a:buNone/>
            </a:pPr>
            <a:r>
              <a:rPr lang="en-US" sz="1500" dirty="0">
                <a:solidFill>
                  <a:schemeClr val="tx2"/>
                </a:solidFill>
              </a:rPr>
              <a:t>Touches all V vertices using exactly V − 1 edges, with no cycles.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B5A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What Is a Minimum Spanning Tree?</a:t>
            </a:r>
            <a:endParaRPr lang="en-US" sz="3600" dirty="0"/>
          </a:p>
        </p:txBody>
      </p:sp>
      <p:sp>
        <p:nvSpPr>
          <p:cNvPr id="4" name="Text 1"/>
          <p:cNvSpPr txBox="1"/>
          <p:nvPr/>
        </p:nvSpPr>
        <p:spPr>
          <a:xfrm>
            <a:off x="548640" y="1463040"/>
            <a:ext cx="4754880" cy="448056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1"/>
                </a:solidFill>
              </a:rPr>
              <a:t>Definition: </a:t>
            </a:r>
            <a:pPr indent="0" marL="0">
              <a:spcAft>
                <a:spcPts val="1000"/>
              </a:spcAft>
              <a:buNone/>
            </a:pPr>
            <a:r>
              <a:rPr lang="en-US" sz="1600" dirty="0">
                <a:solidFill>
                  <a:schemeClr val="tx1"/>
                </a:solidFill>
              </a:rPr>
              <a:t>the spanning tree with the smallest total edge weight</a:t>
            </a:r>
            <a:endParaRPr lang="en-US" sz="1600" dirty="0"/>
          </a:p>
          <a:p>
            <a:pPr marL="342900" indent="-342900">
              <a:spcAft>
                <a:spcPts val="1000"/>
              </a:spcAft>
              <a:buSzPct val="100000"/>
              <a:buChar char="•"/>
            </a:pPr>
            <a:r>
              <a:rPr lang="en-US" sz="1600" b="1" dirty="0">
                <a:solidFill>
                  <a:schemeClr val="tx1"/>
                </a:solidFill>
              </a:rPr>
              <a:t>Structure: </a:t>
            </a:r>
            <a:pPr indent="0" marL="0">
              <a:spcAft>
                <a:spcPts val="1000"/>
              </a:spcAft>
              <a:buNone/>
            </a:pPr>
            <a:r>
              <a:rPr lang="en-US" sz="1600" dirty="0">
                <a:solidFill>
                  <a:schemeClr val="tx1"/>
                </a:solidFill>
              </a:rPr>
              <a:t>V − 1 edges, no cycles; unique when all weights are distinct</a:t>
            </a:r>
            <a:endParaRPr lang="en-US" sz="1600" dirty="0"/>
          </a:p>
          <a:p>
            <a:pPr marL="342900" indent="-342900">
              <a:spcAft>
                <a:spcPts val="1000"/>
              </a:spcAft>
              <a:buSzPct val="100000"/>
              <a:buChar char="•"/>
            </a:pPr>
            <a:r>
              <a:rPr lang="en-US" sz="1600" b="1" dirty="0">
                <a:solidFill>
                  <a:schemeClr val="tx1"/>
                </a:solidFill>
              </a:rPr>
              <a:t>Cut property: </a:t>
            </a:r>
            <a:pPr indent="0" marL="0">
              <a:spcAft>
                <a:spcPts val="1000"/>
              </a:spcAft>
              <a:buNone/>
            </a:pPr>
            <a:r>
              <a:rPr lang="en-US" sz="1600" dirty="0">
                <a:solidFill>
                  <a:schemeClr val="tx1"/>
                </a:solidFill>
              </a:rPr>
              <a:t>the lightest edge crossing any cut belongs to some MST</a:t>
            </a:r>
            <a:endParaRPr lang="en-US" sz="1600" dirty="0"/>
          </a:p>
          <a:p>
            <a:pPr marL="342900" indent="-342900">
              <a:spcAft>
                <a:spcPts val="1000"/>
              </a:spcAft>
              <a:buSzPct val="100000"/>
              <a:buChar char="•"/>
            </a:pPr>
            <a:r>
              <a:rPr lang="en-US" sz="1600" b="1" dirty="0">
                <a:solidFill>
                  <a:schemeClr val="tx1"/>
                </a:solidFill>
              </a:rPr>
              <a:t>Cycle property: </a:t>
            </a:r>
            <a:pPr indent="0" marL="0">
              <a:spcAft>
                <a:spcPts val="1000"/>
              </a:spcAft>
              <a:buNone/>
            </a:pPr>
            <a:r>
              <a:rPr lang="en-US" sz="1600" dirty="0">
                <a:solidFill>
                  <a:schemeClr val="tx1"/>
                </a:solidFill>
              </a:rPr>
              <a:t>the unique heaviest edge on a cycle is never needed</a:t>
            </a:r>
            <a:endParaRPr lang="en-US" sz="1600" dirty="0"/>
          </a:p>
          <a:p>
            <a:pPr marL="342900" indent="-342900">
              <a:spcAft>
                <a:spcPts val="1000"/>
              </a:spcAft>
              <a:buSzPct val="100000"/>
              <a:buChar char="•"/>
            </a:pPr>
            <a:r>
              <a:rPr lang="en-US" sz="1600" b="1" dirty="0">
                <a:solidFill>
                  <a:schemeClr val="tx1"/>
                </a:solidFill>
              </a:rPr>
              <a:t>Why: </a:t>
            </a:r>
            <a:pPr indent="0" marL="0">
              <a:spcAft>
                <a:spcPts val="1000"/>
              </a:spcAft>
              <a:buNone/>
            </a:pPr>
            <a:r>
              <a:rPr lang="en-US" sz="1600" dirty="0">
                <a:solidFill>
                  <a:schemeClr val="tx1"/>
                </a:solidFill>
              </a:rPr>
              <a:t>the cheapest cabling, piping and links that still connect everything</a:t>
            </a:r>
            <a:endParaRPr lang="en-US" sz="1600" dirty="0"/>
          </a:p>
        </p:txBody>
      </p:sp>
      <p:sp>
        <p:nvSpPr>
          <p:cNvPr id="5" name="Shape 2"/>
          <p:cNvSpPr/>
          <p:nvPr/>
        </p:nvSpPr>
        <p:spPr>
          <a:xfrm>
            <a:off x="5577840" y="1463040"/>
            <a:ext cx="2971800" cy="3566160"/>
          </a:xfrm>
          <a:prstGeom prst="roundRect">
            <a:avLst>
              <a:gd name="adj" fmla="val 3692"/>
            </a:avLst>
          </a:prstGeom>
          <a:solidFill>
            <a:schemeClr val="bg2"/>
          </a:solidFill>
          <a:ln/>
        </p:spPr>
      </p:sp>
      <p:sp>
        <p:nvSpPr>
          <p:cNvPr id="6" name="Text 3"/>
          <p:cNvSpPr txBox="1"/>
          <p:nvPr/>
        </p:nvSpPr>
        <p:spPr>
          <a:xfrm>
            <a:off x="5806440" y="1600200"/>
            <a:ext cx="2560320" cy="365760"/>
          </a:xfrm>
          <a:prstGeom prst="rect">
            <a:avLst/>
          </a:prstGeom>
          <a:noFill/>
          <a:ln/>
        </p:spPr>
        <p:txBody>
          <a:bodyPr wrap="square" lIns="0" tIns="0" rIns="0" bIns="0" rtlCol="0" anchor="t"/>
          <a:lstStyle/>
          <a:p>
            <a:pPr indent="0" marL="0">
              <a:buNone/>
            </a:pPr>
            <a:r>
              <a:rPr lang="en-US" sz="1800" b="1" dirty="0">
                <a:solidFill>
                  <a:schemeClr val="tx1"/>
                </a:solidFill>
              </a:rPr>
              <a:t>A spanning tree</a:t>
            </a:r>
            <a:endParaRPr lang="en-US" sz="1800" dirty="0"/>
          </a:p>
        </p:txBody>
      </p:sp>
      <p:sp>
        <p:nvSpPr>
          <p:cNvPr id="7" name="Shape 4"/>
          <p:cNvSpPr/>
          <p:nvPr/>
        </p:nvSpPr>
        <p:spPr>
          <a:xfrm>
            <a:off x="6528816" y="2514600"/>
            <a:ext cx="0" cy="1316736"/>
          </a:xfrm>
          <a:prstGeom prst="line">
            <a:avLst/>
          </a:prstGeom>
          <a:noFill/>
          <a:ln w="19050">
            <a:solidFill>
              <a:srgbClr val="C9D6CC"/>
            </a:solidFill>
            <a:prstDash val="solid"/>
          </a:ln>
        </p:spPr>
      </p:sp>
      <p:sp>
        <p:nvSpPr>
          <p:cNvPr id="8" name="Shape 5"/>
          <p:cNvSpPr/>
          <p:nvPr/>
        </p:nvSpPr>
        <p:spPr>
          <a:xfrm>
            <a:off x="6528816" y="2514600"/>
            <a:ext cx="1053389" cy="0"/>
          </a:xfrm>
          <a:prstGeom prst="line">
            <a:avLst/>
          </a:prstGeom>
          <a:noFill/>
          <a:ln w="19050">
            <a:solidFill>
              <a:srgbClr val="C9D6CC"/>
            </a:solidFill>
            <a:prstDash val="solid"/>
          </a:ln>
        </p:spPr>
      </p:sp>
      <p:sp>
        <p:nvSpPr>
          <p:cNvPr id="9" name="Shape 6"/>
          <p:cNvSpPr/>
          <p:nvPr/>
        </p:nvSpPr>
        <p:spPr>
          <a:xfrm flipV="1">
            <a:off x="6528816" y="2514600"/>
            <a:ext cx="1053389" cy="1316736"/>
          </a:xfrm>
          <a:prstGeom prst="line">
            <a:avLst/>
          </a:prstGeom>
          <a:noFill/>
          <a:ln w="19050">
            <a:solidFill>
              <a:srgbClr val="C9D6CC"/>
            </a:solidFill>
            <a:prstDash val="solid"/>
          </a:ln>
        </p:spPr>
      </p:sp>
      <p:sp>
        <p:nvSpPr>
          <p:cNvPr id="10" name="Shape 7"/>
          <p:cNvSpPr/>
          <p:nvPr/>
        </p:nvSpPr>
        <p:spPr>
          <a:xfrm flipV="1">
            <a:off x="7582205" y="3172968"/>
            <a:ext cx="658368" cy="658368"/>
          </a:xfrm>
          <a:prstGeom prst="line">
            <a:avLst/>
          </a:prstGeom>
          <a:noFill/>
          <a:ln w="19050">
            <a:solidFill>
              <a:srgbClr val="C9D6CC"/>
            </a:solidFill>
            <a:prstDash val="solid"/>
          </a:ln>
        </p:spPr>
      </p:sp>
      <p:sp>
        <p:nvSpPr>
          <p:cNvPr id="11" name="Shape 8"/>
          <p:cNvSpPr/>
          <p:nvPr/>
        </p:nvSpPr>
        <p:spPr>
          <a:xfrm flipV="1">
            <a:off x="5870448" y="2514600"/>
            <a:ext cx="658368" cy="658368"/>
          </a:xfrm>
          <a:prstGeom prst="line">
            <a:avLst/>
          </a:prstGeom>
          <a:noFill/>
          <a:ln w="34925">
            <a:solidFill>
              <a:schemeClr val="accent2"/>
            </a:solidFill>
            <a:prstDash val="solid"/>
          </a:ln>
        </p:spPr>
      </p:sp>
      <p:sp>
        <p:nvSpPr>
          <p:cNvPr id="12" name="Shape 9"/>
          <p:cNvSpPr/>
          <p:nvPr/>
        </p:nvSpPr>
        <p:spPr>
          <a:xfrm>
            <a:off x="5870448" y="3172968"/>
            <a:ext cx="658368" cy="658368"/>
          </a:xfrm>
          <a:prstGeom prst="line">
            <a:avLst/>
          </a:prstGeom>
          <a:noFill/>
          <a:ln w="34925">
            <a:solidFill>
              <a:schemeClr val="accent2"/>
            </a:solidFill>
            <a:prstDash val="solid"/>
          </a:ln>
        </p:spPr>
      </p:sp>
      <p:sp>
        <p:nvSpPr>
          <p:cNvPr id="13" name="Shape 10"/>
          <p:cNvSpPr/>
          <p:nvPr/>
        </p:nvSpPr>
        <p:spPr>
          <a:xfrm>
            <a:off x="6528816" y="3831336"/>
            <a:ext cx="1053389" cy="0"/>
          </a:xfrm>
          <a:prstGeom prst="line">
            <a:avLst/>
          </a:prstGeom>
          <a:noFill/>
          <a:ln w="34925">
            <a:solidFill>
              <a:schemeClr val="accent2"/>
            </a:solidFill>
            <a:prstDash val="solid"/>
          </a:ln>
        </p:spPr>
      </p:sp>
      <p:sp>
        <p:nvSpPr>
          <p:cNvPr id="14" name="Shape 11"/>
          <p:cNvSpPr/>
          <p:nvPr/>
        </p:nvSpPr>
        <p:spPr>
          <a:xfrm>
            <a:off x="7582205" y="2514600"/>
            <a:ext cx="0" cy="1316736"/>
          </a:xfrm>
          <a:prstGeom prst="line">
            <a:avLst/>
          </a:prstGeom>
          <a:noFill/>
          <a:ln w="34925">
            <a:solidFill>
              <a:schemeClr val="accent2"/>
            </a:solidFill>
            <a:prstDash val="solid"/>
          </a:ln>
        </p:spPr>
      </p:sp>
      <p:sp>
        <p:nvSpPr>
          <p:cNvPr id="15" name="Shape 12"/>
          <p:cNvSpPr/>
          <p:nvPr/>
        </p:nvSpPr>
        <p:spPr>
          <a:xfrm>
            <a:off x="7582205" y="2514600"/>
            <a:ext cx="658368" cy="658368"/>
          </a:xfrm>
          <a:prstGeom prst="line">
            <a:avLst/>
          </a:prstGeom>
          <a:noFill/>
          <a:ln w="34925">
            <a:solidFill>
              <a:schemeClr val="accent2"/>
            </a:solidFill>
            <a:prstDash val="solid"/>
          </a:ln>
        </p:spPr>
      </p:sp>
      <p:sp>
        <p:nvSpPr>
          <p:cNvPr id="16" name="Shape 13"/>
          <p:cNvSpPr/>
          <p:nvPr/>
        </p:nvSpPr>
        <p:spPr>
          <a:xfrm>
            <a:off x="6391656" y="3044952"/>
            <a:ext cx="274320" cy="256032"/>
          </a:xfrm>
          <a:prstGeom prst="roundRect">
            <a:avLst>
              <a:gd name="adj" fmla="val 28571"/>
            </a:avLst>
          </a:prstGeom>
          <a:solidFill>
            <a:srgbClr val="FFFFFF"/>
          </a:solidFill>
          <a:ln w="12700">
            <a:solidFill>
              <a:srgbClr val="C9D6CC"/>
            </a:solidFill>
            <a:prstDash val="solid"/>
          </a:ln>
        </p:spPr>
      </p:sp>
      <p:sp>
        <p:nvSpPr>
          <p:cNvPr id="17" name="Text 14"/>
          <p:cNvSpPr txBox="1"/>
          <p:nvPr/>
        </p:nvSpPr>
        <p:spPr>
          <a:xfrm>
            <a:off x="6391656" y="3044952"/>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1</a:t>
            </a:r>
            <a:endParaRPr lang="en-US" sz="1100" dirty="0"/>
          </a:p>
        </p:txBody>
      </p:sp>
      <p:sp>
        <p:nvSpPr>
          <p:cNvPr id="18" name="Shape 15"/>
          <p:cNvSpPr/>
          <p:nvPr/>
        </p:nvSpPr>
        <p:spPr>
          <a:xfrm>
            <a:off x="6918350" y="2386584"/>
            <a:ext cx="274320" cy="256032"/>
          </a:xfrm>
          <a:prstGeom prst="roundRect">
            <a:avLst>
              <a:gd name="adj" fmla="val 28571"/>
            </a:avLst>
          </a:prstGeom>
          <a:solidFill>
            <a:srgbClr val="FFFFFF"/>
          </a:solidFill>
          <a:ln w="12700">
            <a:solidFill>
              <a:srgbClr val="C9D6CC"/>
            </a:solidFill>
            <a:prstDash val="solid"/>
          </a:ln>
        </p:spPr>
      </p:sp>
      <p:sp>
        <p:nvSpPr>
          <p:cNvPr id="19" name="Text 16"/>
          <p:cNvSpPr txBox="1"/>
          <p:nvPr/>
        </p:nvSpPr>
        <p:spPr>
          <a:xfrm>
            <a:off x="6918350" y="238658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5</a:t>
            </a:r>
            <a:endParaRPr lang="en-US" sz="1100" dirty="0"/>
          </a:p>
        </p:txBody>
      </p:sp>
      <p:sp>
        <p:nvSpPr>
          <p:cNvPr id="20" name="Shape 17"/>
          <p:cNvSpPr/>
          <p:nvPr/>
        </p:nvSpPr>
        <p:spPr>
          <a:xfrm>
            <a:off x="6918350" y="3044952"/>
            <a:ext cx="274320" cy="256032"/>
          </a:xfrm>
          <a:prstGeom prst="roundRect">
            <a:avLst>
              <a:gd name="adj" fmla="val 28571"/>
            </a:avLst>
          </a:prstGeom>
          <a:solidFill>
            <a:srgbClr val="FFFFFF"/>
          </a:solidFill>
          <a:ln w="12700">
            <a:solidFill>
              <a:srgbClr val="C9D6CC"/>
            </a:solidFill>
            <a:prstDash val="solid"/>
          </a:ln>
        </p:spPr>
      </p:sp>
      <p:sp>
        <p:nvSpPr>
          <p:cNvPr id="21" name="Text 18"/>
          <p:cNvSpPr txBox="1"/>
          <p:nvPr/>
        </p:nvSpPr>
        <p:spPr>
          <a:xfrm>
            <a:off x="6918350" y="3044952"/>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8</a:t>
            </a:r>
            <a:endParaRPr lang="en-US" sz="1100" dirty="0"/>
          </a:p>
        </p:txBody>
      </p:sp>
      <p:sp>
        <p:nvSpPr>
          <p:cNvPr id="22" name="Shape 19"/>
          <p:cNvSpPr/>
          <p:nvPr/>
        </p:nvSpPr>
        <p:spPr>
          <a:xfrm>
            <a:off x="7774229" y="3374136"/>
            <a:ext cx="274320" cy="256032"/>
          </a:xfrm>
          <a:prstGeom prst="roundRect">
            <a:avLst>
              <a:gd name="adj" fmla="val 28571"/>
            </a:avLst>
          </a:prstGeom>
          <a:solidFill>
            <a:srgbClr val="FFFFFF"/>
          </a:solidFill>
          <a:ln w="12700">
            <a:solidFill>
              <a:srgbClr val="C9D6CC"/>
            </a:solidFill>
            <a:prstDash val="solid"/>
          </a:ln>
        </p:spPr>
      </p:sp>
      <p:sp>
        <p:nvSpPr>
          <p:cNvPr id="23" name="Text 20"/>
          <p:cNvSpPr txBox="1"/>
          <p:nvPr/>
        </p:nvSpPr>
        <p:spPr>
          <a:xfrm>
            <a:off x="7774229" y="3374136"/>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3</a:t>
            </a:r>
            <a:endParaRPr lang="en-US" sz="1100" dirty="0"/>
          </a:p>
        </p:txBody>
      </p:sp>
      <p:sp>
        <p:nvSpPr>
          <p:cNvPr id="24" name="Shape 21"/>
          <p:cNvSpPr/>
          <p:nvPr/>
        </p:nvSpPr>
        <p:spPr>
          <a:xfrm>
            <a:off x="6062472" y="2715768"/>
            <a:ext cx="274320" cy="256032"/>
          </a:xfrm>
          <a:prstGeom prst="roundRect">
            <a:avLst>
              <a:gd name="adj" fmla="val 28571"/>
            </a:avLst>
          </a:prstGeom>
          <a:solidFill>
            <a:srgbClr val="FFFFFF"/>
          </a:solidFill>
          <a:ln w="12700">
            <a:solidFill>
              <a:schemeClr val="accent2"/>
            </a:solidFill>
            <a:prstDash val="solid"/>
          </a:ln>
        </p:spPr>
      </p:sp>
      <p:sp>
        <p:nvSpPr>
          <p:cNvPr id="25" name="Text 22"/>
          <p:cNvSpPr txBox="1"/>
          <p:nvPr/>
        </p:nvSpPr>
        <p:spPr>
          <a:xfrm>
            <a:off x="6062472" y="2715768"/>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4</a:t>
            </a:r>
            <a:endParaRPr lang="en-US" sz="1100" dirty="0"/>
          </a:p>
        </p:txBody>
      </p:sp>
      <p:sp>
        <p:nvSpPr>
          <p:cNvPr id="26" name="Shape 23"/>
          <p:cNvSpPr/>
          <p:nvPr/>
        </p:nvSpPr>
        <p:spPr>
          <a:xfrm>
            <a:off x="6062472" y="3374136"/>
            <a:ext cx="274320" cy="256032"/>
          </a:xfrm>
          <a:prstGeom prst="roundRect">
            <a:avLst>
              <a:gd name="adj" fmla="val 28571"/>
            </a:avLst>
          </a:prstGeom>
          <a:solidFill>
            <a:srgbClr val="FFFFFF"/>
          </a:solidFill>
          <a:ln w="12700">
            <a:solidFill>
              <a:schemeClr val="accent2"/>
            </a:solidFill>
            <a:prstDash val="solid"/>
          </a:ln>
        </p:spPr>
      </p:sp>
      <p:sp>
        <p:nvSpPr>
          <p:cNvPr id="27" name="Text 24"/>
          <p:cNvSpPr txBox="1"/>
          <p:nvPr/>
        </p:nvSpPr>
        <p:spPr>
          <a:xfrm>
            <a:off x="6062472" y="3374136"/>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2</a:t>
            </a:r>
            <a:endParaRPr lang="en-US" sz="1100" dirty="0"/>
          </a:p>
        </p:txBody>
      </p:sp>
      <p:sp>
        <p:nvSpPr>
          <p:cNvPr id="28" name="Shape 25"/>
          <p:cNvSpPr/>
          <p:nvPr/>
        </p:nvSpPr>
        <p:spPr>
          <a:xfrm>
            <a:off x="6872630" y="3703320"/>
            <a:ext cx="365760" cy="256032"/>
          </a:xfrm>
          <a:prstGeom prst="roundRect">
            <a:avLst>
              <a:gd name="adj" fmla="val 28571"/>
            </a:avLst>
          </a:prstGeom>
          <a:solidFill>
            <a:srgbClr val="FFFFFF"/>
          </a:solidFill>
          <a:ln w="12700">
            <a:solidFill>
              <a:schemeClr val="accent2"/>
            </a:solidFill>
            <a:prstDash val="solid"/>
          </a:ln>
        </p:spPr>
      </p:sp>
      <p:sp>
        <p:nvSpPr>
          <p:cNvPr id="29" name="Text 26"/>
          <p:cNvSpPr txBox="1"/>
          <p:nvPr/>
        </p:nvSpPr>
        <p:spPr>
          <a:xfrm>
            <a:off x="6872630" y="3703320"/>
            <a:ext cx="365760" cy="256032"/>
          </a:xfrm>
          <a:prstGeom prst="rect">
            <a:avLst/>
          </a:prstGeom>
          <a:noFill/>
          <a:ln/>
        </p:spPr>
        <p:txBody>
          <a:bodyPr wrap="square" lIns="0" tIns="0" rIns="0" bIns="0" rtlCol="0" anchor="ctr"/>
          <a:lstStyle/>
          <a:p>
            <a:pPr algn="ctr" indent="0" marL="0">
              <a:buNone/>
            </a:pPr>
            <a:r>
              <a:rPr lang="en-US" sz="1100" b="1" dirty="0">
                <a:solidFill>
                  <a:srgbClr val="2F6B4F"/>
                </a:solidFill>
              </a:rPr>
              <a:t>10</a:t>
            </a:r>
            <a:endParaRPr lang="en-US" sz="1100" dirty="0"/>
          </a:p>
        </p:txBody>
      </p:sp>
      <p:sp>
        <p:nvSpPr>
          <p:cNvPr id="30" name="Shape 27"/>
          <p:cNvSpPr/>
          <p:nvPr/>
        </p:nvSpPr>
        <p:spPr>
          <a:xfrm>
            <a:off x="7445045" y="3044952"/>
            <a:ext cx="274320" cy="256032"/>
          </a:xfrm>
          <a:prstGeom prst="roundRect">
            <a:avLst>
              <a:gd name="adj" fmla="val 28571"/>
            </a:avLst>
          </a:prstGeom>
          <a:solidFill>
            <a:srgbClr val="FFFFFF"/>
          </a:solidFill>
          <a:ln w="12700">
            <a:solidFill>
              <a:schemeClr val="accent2"/>
            </a:solidFill>
            <a:prstDash val="solid"/>
          </a:ln>
        </p:spPr>
      </p:sp>
      <p:sp>
        <p:nvSpPr>
          <p:cNvPr id="31" name="Text 28"/>
          <p:cNvSpPr txBox="1"/>
          <p:nvPr/>
        </p:nvSpPr>
        <p:spPr>
          <a:xfrm>
            <a:off x="7445045" y="3044952"/>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2</a:t>
            </a:r>
            <a:endParaRPr lang="en-US" sz="1100" dirty="0"/>
          </a:p>
        </p:txBody>
      </p:sp>
      <p:sp>
        <p:nvSpPr>
          <p:cNvPr id="32" name="Shape 29"/>
          <p:cNvSpPr/>
          <p:nvPr/>
        </p:nvSpPr>
        <p:spPr>
          <a:xfrm>
            <a:off x="7774229" y="2715768"/>
            <a:ext cx="274320" cy="256032"/>
          </a:xfrm>
          <a:prstGeom prst="roundRect">
            <a:avLst>
              <a:gd name="adj" fmla="val 28571"/>
            </a:avLst>
          </a:prstGeom>
          <a:solidFill>
            <a:srgbClr val="FFFFFF"/>
          </a:solidFill>
          <a:ln w="12700">
            <a:solidFill>
              <a:schemeClr val="accent2"/>
            </a:solidFill>
            <a:prstDash val="solid"/>
          </a:ln>
        </p:spPr>
      </p:sp>
      <p:sp>
        <p:nvSpPr>
          <p:cNvPr id="33" name="Text 30"/>
          <p:cNvSpPr txBox="1"/>
          <p:nvPr/>
        </p:nvSpPr>
        <p:spPr>
          <a:xfrm>
            <a:off x="7774229" y="2715768"/>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6</a:t>
            </a:r>
            <a:endParaRPr lang="en-US" sz="1100" dirty="0"/>
          </a:p>
        </p:txBody>
      </p:sp>
      <p:sp>
        <p:nvSpPr>
          <p:cNvPr id="34" name="Shape 31"/>
          <p:cNvSpPr/>
          <p:nvPr/>
        </p:nvSpPr>
        <p:spPr>
          <a:xfrm>
            <a:off x="5660136" y="2962656"/>
            <a:ext cx="420624" cy="420624"/>
          </a:xfrm>
          <a:prstGeom prst="ellipse">
            <a:avLst/>
          </a:prstGeom>
          <a:solidFill>
            <a:srgbClr val="FFFFFF"/>
          </a:solidFill>
          <a:ln w="22225">
            <a:solidFill>
              <a:srgbClr val="2F6B4F"/>
            </a:solidFill>
            <a:prstDash val="solid"/>
          </a:ln>
        </p:spPr>
      </p:sp>
      <p:sp>
        <p:nvSpPr>
          <p:cNvPr id="35" name="Text 32"/>
          <p:cNvSpPr txBox="1"/>
          <p:nvPr/>
        </p:nvSpPr>
        <p:spPr>
          <a:xfrm>
            <a:off x="5660136" y="2962656"/>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A</a:t>
            </a:r>
            <a:endParaRPr lang="en-US" sz="1400" dirty="0"/>
          </a:p>
        </p:txBody>
      </p:sp>
      <p:sp>
        <p:nvSpPr>
          <p:cNvPr id="36" name="Shape 33"/>
          <p:cNvSpPr/>
          <p:nvPr/>
        </p:nvSpPr>
        <p:spPr>
          <a:xfrm>
            <a:off x="6318504" y="2304288"/>
            <a:ext cx="420624" cy="420624"/>
          </a:xfrm>
          <a:prstGeom prst="ellipse">
            <a:avLst/>
          </a:prstGeom>
          <a:solidFill>
            <a:srgbClr val="FFFFFF"/>
          </a:solidFill>
          <a:ln w="22225">
            <a:solidFill>
              <a:srgbClr val="2F6B4F"/>
            </a:solidFill>
            <a:prstDash val="solid"/>
          </a:ln>
        </p:spPr>
      </p:sp>
      <p:sp>
        <p:nvSpPr>
          <p:cNvPr id="37" name="Text 34"/>
          <p:cNvSpPr txBox="1"/>
          <p:nvPr/>
        </p:nvSpPr>
        <p:spPr>
          <a:xfrm>
            <a:off x="6318504" y="230428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B</a:t>
            </a:r>
            <a:endParaRPr lang="en-US" sz="1400" dirty="0"/>
          </a:p>
        </p:txBody>
      </p:sp>
      <p:sp>
        <p:nvSpPr>
          <p:cNvPr id="38" name="Shape 35"/>
          <p:cNvSpPr/>
          <p:nvPr/>
        </p:nvSpPr>
        <p:spPr>
          <a:xfrm>
            <a:off x="6318504" y="3621024"/>
            <a:ext cx="420624" cy="420624"/>
          </a:xfrm>
          <a:prstGeom prst="ellipse">
            <a:avLst/>
          </a:prstGeom>
          <a:solidFill>
            <a:srgbClr val="FFFFFF"/>
          </a:solidFill>
          <a:ln w="22225">
            <a:solidFill>
              <a:srgbClr val="2F6B4F"/>
            </a:solidFill>
            <a:prstDash val="solid"/>
          </a:ln>
        </p:spPr>
      </p:sp>
      <p:sp>
        <p:nvSpPr>
          <p:cNvPr id="39" name="Text 36"/>
          <p:cNvSpPr txBox="1"/>
          <p:nvPr/>
        </p:nvSpPr>
        <p:spPr>
          <a:xfrm>
            <a:off x="6318504" y="3621024"/>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C</a:t>
            </a:r>
            <a:endParaRPr lang="en-US" sz="1400" dirty="0"/>
          </a:p>
        </p:txBody>
      </p:sp>
      <p:sp>
        <p:nvSpPr>
          <p:cNvPr id="40" name="Shape 37"/>
          <p:cNvSpPr/>
          <p:nvPr/>
        </p:nvSpPr>
        <p:spPr>
          <a:xfrm>
            <a:off x="7371893" y="2304288"/>
            <a:ext cx="420624" cy="420624"/>
          </a:xfrm>
          <a:prstGeom prst="ellipse">
            <a:avLst/>
          </a:prstGeom>
          <a:solidFill>
            <a:srgbClr val="FFFFFF"/>
          </a:solidFill>
          <a:ln w="22225">
            <a:solidFill>
              <a:srgbClr val="2F6B4F"/>
            </a:solidFill>
            <a:prstDash val="solid"/>
          </a:ln>
        </p:spPr>
      </p:sp>
      <p:sp>
        <p:nvSpPr>
          <p:cNvPr id="41" name="Text 38"/>
          <p:cNvSpPr txBox="1"/>
          <p:nvPr/>
        </p:nvSpPr>
        <p:spPr>
          <a:xfrm>
            <a:off x="7371893" y="230428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D</a:t>
            </a:r>
            <a:endParaRPr lang="en-US" sz="1400" dirty="0"/>
          </a:p>
        </p:txBody>
      </p:sp>
      <p:sp>
        <p:nvSpPr>
          <p:cNvPr id="42" name="Shape 39"/>
          <p:cNvSpPr/>
          <p:nvPr/>
        </p:nvSpPr>
        <p:spPr>
          <a:xfrm>
            <a:off x="7371893" y="3621024"/>
            <a:ext cx="420624" cy="420624"/>
          </a:xfrm>
          <a:prstGeom prst="ellipse">
            <a:avLst/>
          </a:prstGeom>
          <a:solidFill>
            <a:srgbClr val="FFFFFF"/>
          </a:solidFill>
          <a:ln w="22225">
            <a:solidFill>
              <a:srgbClr val="2F6B4F"/>
            </a:solidFill>
            <a:prstDash val="solid"/>
          </a:ln>
        </p:spPr>
      </p:sp>
      <p:sp>
        <p:nvSpPr>
          <p:cNvPr id="43" name="Text 40"/>
          <p:cNvSpPr txBox="1"/>
          <p:nvPr/>
        </p:nvSpPr>
        <p:spPr>
          <a:xfrm>
            <a:off x="7371893" y="3621024"/>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E</a:t>
            </a:r>
            <a:endParaRPr lang="en-US" sz="1400" dirty="0"/>
          </a:p>
        </p:txBody>
      </p:sp>
      <p:sp>
        <p:nvSpPr>
          <p:cNvPr id="44" name="Shape 41"/>
          <p:cNvSpPr/>
          <p:nvPr/>
        </p:nvSpPr>
        <p:spPr>
          <a:xfrm>
            <a:off x="8030261" y="2962656"/>
            <a:ext cx="420624" cy="420624"/>
          </a:xfrm>
          <a:prstGeom prst="ellipse">
            <a:avLst/>
          </a:prstGeom>
          <a:solidFill>
            <a:srgbClr val="FFFFFF"/>
          </a:solidFill>
          <a:ln w="22225">
            <a:solidFill>
              <a:srgbClr val="2F6B4F"/>
            </a:solidFill>
            <a:prstDash val="solid"/>
          </a:ln>
        </p:spPr>
      </p:sp>
      <p:sp>
        <p:nvSpPr>
          <p:cNvPr id="45" name="Text 42"/>
          <p:cNvSpPr txBox="1"/>
          <p:nvPr/>
        </p:nvSpPr>
        <p:spPr>
          <a:xfrm>
            <a:off x="8030261" y="2962656"/>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F</a:t>
            </a:r>
            <a:endParaRPr lang="en-US" sz="1400" dirty="0"/>
          </a:p>
        </p:txBody>
      </p:sp>
      <p:sp>
        <p:nvSpPr>
          <p:cNvPr id="46" name="Text 43"/>
          <p:cNvSpPr txBox="1"/>
          <p:nvPr/>
        </p:nvSpPr>
        <p:spPr>
          <a:xfrm>
            <a:off x="5806440" y="4297680"/>
            <a:ext cx="2560320" cy="502920"/>
          </a:xfrm>
          <a:prstGeom prst="rect">
            <a:avLst/>
          </a:prstGeom>
          <a:noFill/>
          <a:ln/>
        </p:spPr>
        <p:txBody>
          <a:bodyPr wrap="square" lIns="0" tIns="0" rIns="0" bIns="0" rtlCol="0" anchor="t"/>
          <a:lstStyle/>
          <a:p>
            <a:pPr indent="0" marL="0">
              <a:buNone/>
            </a:pPr>
            <a:r>
              <a:rPr lang="en-US" sz="2600" b="1" dirty="0">
                <a:solidFill>
                  <a:srgbClr val="B45309"/>
                </a:solidFill>
                <a:latin typeface="Cambria" pitchFamily="34" charset="0"/>
                <a:ea typeface="Cambria" pitchFamily="34" charset="-122"/>
                <a:cs typeface="Cambria" pitchFamily="34" charset="-120"/>
              </a:rPr>
              <a:t>Total = 24</a:t>
            </a:r>
            <a:endParaRPr lang="en-US" sz="2600" dirty="0"/>
          </a:p>
        </p:txBody>
      </p:sp>
      <p:sp>
        <p:nvSpPr>
          <p:cNvPr id="47" name="Shape 44"/>
          <p:cNvSpPr/>
          <p:nvPr/>
        </p:nvSpPr>
        <p:spPr>
          <a:xfrm>
            <a:off x="8686800" y="1463040"/>
            <a:ext cx="2971800" cy="3566160"/>
          </a:xfrm>
          <a:prstGeom prst="roundRect">
            <a:avLst>
              <a:gd name="adj" fmla="val 3692"/>
            </a:avLst>
          </a:prstGeom>
          <a:solidFill>
            <a:schemeClr val="bg2"/>
          </a:solidFill>
          <a:ln/>
        </p:spPr>
      </p:sp>
      <p:sp>
        <p:nvSpPr>
          <p:cNvPr id="48" name="Text 45"/>
          <p:cNvSpPr txBox="1"/>
          <p:nvPr/>
        </p:nvSpPr>
        <p:spPr>
          <a:xfrm>
            <a:off x="8915400" y="1600200"/>
            <a:ext cx="2560320" cy="365760"/>
          </a:xfrm>
          <a:prstGeom prst="rect">
            <a:avLst/>
          </a:prstGeom>
          <a:noFill/>
          <a:ln/>
        </p:spPr>
        <p:txBody>
          <a:bodyPr wrap="square" lIns="0" tIns="0" rIns="0" bIns="0" rtlCol="0" anchor="t"/>
          <a:lstStyle/>
          <a:p>
            <a:pPr indent="0" marL="0">
              <a:buNone/>
            </a:pPr>
            <a:r>
              <a:rPr lang="en-US" sz="1800" b="1" dirty="0">
                <a:solidFill>
                  <a:schemeClr val="tx1"/>
                </a:solidFill>
              </a:rPr>
              <a:t>The MST</a:t>
            </a:r>
            <a:endParaRPr lang="en-US" sz="1800" dirty="0"/>
          </a:p>
        </p:txBody>
      </p:sp>
      <p:sp>
        <p:nvSpPr>
          <p:cNvPr id="49" name="Shape 46"/>
          <p:cNvSpPr/>
          <p:nvPr/>
        </p:nvSpPr>
        <p:spPr>
          <a:xfrm flipV="1">
            <a:off x="8979408" y="2514600"/>
            <a:ext cx="658368" cy="658368"/>
          </a:xfrm>
          <a:prstGeom prst="line">
            <a:avLst/>
          </a:prstGeom>
          <a:noFill/>
          <a:ln w="19050">
            <a:solidFill>
              <a:srgbClr val="C9D6CC"/>
            </a:solidFill>
            <a:prstDash val="solid"/>
          </a:ln>
        </p:spPr>
      </p:sp>
      <p:sp>
        <p:nvSpPr>
          <p:cNvPr id="50" name="Shape 47"/>
          <p:cNvSpPr/>
          <p:nvPr/>
        </p:nvSpPr>
        <p:spPr>
          <a:xfrm flipV="1">
            <a:off x="9637776" y="2514600"/>
            <a:ext cx="1053389" cy="1316736"/>
          </a:xfrm>
          <a:prstGeom prst="line">
            <a:avLst/>
          </a:prstGeom>
          <a:noFill/>
          <a:ln w="19050">
            <a:solidFill>
              <a:srgbClr val="C9D6CC"/>
            </a:solidFill>
            <a:prstDash val="solid"/>
          </a:ln>
        </p:spPr>
      </p:sp>
      <p:sp>
        <p:nvSpPr>
          <p:cNvPr id="51" name="Shape 48"/>
          <p:cNvSpPr/>
          <p:nvPr/>
        </p:nvSpPr>
        <p:spPr>
          <a:xfrm>
            <a:off x="9637776" y="3831336"/>
            <a:ext cx="1053389" cy="0"/>
          </a:xfrm>
          <a:prstGeom prst="line">
            <a:avLst/>
          </a:prstGeom>
          <a:noFill/>
          <a:ln w="19050">
            <a:solidFill>
              <a:srgbClr val="C9D6CC"/>
            </a:solidFill>
            <a:prstDash val="solid"/>
          </a:ln>
        </p:spPr>
      </p:sp>
      <p:sp>
        <p:nvSpPr>
          <p:cNvPr id="52" name="Shape 49"/>
          <p:cNvSpPr/>
          <p:nvPr/>
        </p:nvSpPr>
        <p:spPr>
          <a:xfrm>
            <a:off x="10691165" y="2514600"/>
            <a:ext cx="658368" cy="658368"/>
          </a:xfrm>
          <a:prstGeom prst="line">
            <a:avLst/>
          </a:prstGeom>
          <a:noFill/>
          <a:ln w="19050">
            <a:solidFill>
              <a:srgbClr val="C9D6CC"/>
            </a:solidFill>
            <a:prstDash val="solid"/>
          </a:ln>
        </p:spPr>
      </p:sp>
      <p:sp>
        <p:nvSpPr>
          <p:cNvPr id="53" name="Shape 50"/>
          <p:cNvSpPr/>
          <p:nvPr/>
        </p:nvSpPr>
        <p:spPr>
          <a:xfrm>
            <a:off x="8979408" y="3172968"/>
            <a:ext cx="658368" cy="658368"/>
          </a:xfrm>
          <a:prstGeom prst="line">
            <a:avLst/>
          </a:prstGeom>
          <a:noFill/>
          <a:ln w="50800">
            <a:solidFill>
              <a:schemeClr val="accent1"/>
            </a:solidFill>
            <a:prstDash val="solid"/>
          </a:ln>
        </p:spPr>
      </p:sp>
      <p:sp>
        <p:nvSpPr>
          <p:cNvPr id="54" name="Shape 51"/>
          <p:cNvSpPr/>
          <p:nvPr/>
        </p:nvSpPr>
        <p:spPr>
          <a:xfrm>
            <a:off x="9637776" y="2514600"/>
            <a:ext cx="0" cy="1316736"/>
          </a:xfrm>
          <a:prstGeom prst="line">
            <a:avLst/>
          </a:prstGeom>
          <a:noFill/>
          <a:ln w="50800">
            <a:solidFill>
              <a:schemeClr val="accent1"/>
            </a:solidFill>
            <a:prstDash val="solid"/>
          </a:ln>
        </p:spPr>
      </p:sp>
      <p:sp>
        <p:nvSpPr>
          <p:cNvPr id="55" name="Shape 52"/>
          <p:cNvSpPr/>
          <p:nvPr/>
        </p:nvSpPr>
        <p:spPr>
          <a:xfrm>
            <a:off x="9637776" y="2514600"/>
            <a:ext cx="1053389" cy="0"/>
          </a:xfrm>
          <a:prstGeom prst="line">
            <a:avLst/>
          </a:prstGeom>
          <a:noFill/>
          <a:ln w="50800">
            <a:solidFill>
              <a:schemeClr val="accent1"/>
            </a:solidFill>
            <a:prstDash val="solid"/>
          </a:ln>
        </p:spPr>
      </p:sp>
      <p:sp>
        <p:nvSpPr>
          <p:cNvPr id="56" name="Shape 53"/>
          <p:cNvSpPr/>
          <p:nvPr/>
        </p:nvSpPr>
        <p:spPr>
          <a:xfrm>
            <a:off x="10691165" y="2514600"/>
            <a:ext cx="0" cy="1316736"/>
          </a:xfrm>
          <a:prstGeom prst="line">
            <a:avLst/>
          </a:prstGeom>
          <a:noFill/>
          <a:ln w="50800">
            <a:solidFill>
              <a:schemeClr val="accent1"/>
            </a:solidFill>
            <a:prstDash val="solid"/>
          </a:ln>
        </p:spPr>
      </p:sp>
      <p:sp>
        <p:nvSpPr>
          <p:cNvPr id="57" name="Shape 54"/>
          <p:cNvSpPr/>
          <p:nvPr/>
        </p:nvSpPr>
        <p:spPr>
          <a:xfrm flipV="1">
            <a:off x="10691165" y="3172968"/>
            <a:ext cx="658368" cy="658368"/>
          </a:xfrm>
          <a:prstGeom prst="line">
            <a:avLst/>
          </a:prstGeom>
          <a:noFill/>
          <a:ln w="50800">
            <a:solidFill>
              <a:schemeClr val="accent1"/>
            </a:solidFill>
            <a:prstDash val="solid"/>
          </a:ln>
        </p:spPr>
      </p:sp>
      <p:sp>
        <p:nvSpPr>
          <p:cNvPr id="58" name="Shape 55"/>
          <p:cNvSpPr/>
          <p:nvPr/>
        </p:nvSpPr>
        <p:spPr>
          <a:xfrm>
            <a:off x="9171432" y="2715768"/>
            <a:ext cx="274320" cy="256032"/>
          </a:xfrm>
          <a:prstGeom prst="roundRect">
            <a:avLst>
              <a:gd name="adj" fmla="val 28571"/>
            </a:avLst>
          </a:prstGeom>
          <a:solidFill>
            <a:srgbClr val="FFFFFF"/>
          </a:solidFill>
          <a:ln w="12700">
            <a:solidFill>
              <a:srgbClr val="C9D6CC"/>
            </a:solidFill>
            <a:prstDash val="solid"/>
          </a:ln>
        </p:spPr>
      </p:sp>
      <p:sp>
        <p:nvSpPr>
          <p:cNvPr id="59" name="Text 56"/>
          <p:cNvSpPr txBox="1"/>
          <p:nvPr/>
        </p:nvSpPr>
        <p:spPr>
          <a:xfrm>
            <a:off x="9171432" y="2715768"/>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4</a:t>
            </a:r>
            <a:endParaRPr lang="en-US" sz="1100" dirty="0"/>
          </a:p>
        </p:txBody>
      </p:sp>
      <p:sp>
        <p:nvSpPr>
          <p:cNvPr id="60" name="Shape 57"/>
          <p:cNvSpPr/>
          <p:nvPr/>
        </p:nvSpPr>
        <p:spPr>
          <a:xfrm>
            <a:off x="10027310" y="3044952"/>
            <a:ext cx="274320" cy="256032"/>
          </a:xfrm>
          <a:prstGeom prst="roundRect">
            <a:avLst>
              <a:gd name="adj" fmla="val 28571"/>
            </a:avLst>
          </a:prstGeom>
          <a:solidFill>
            <a:srgbClr val="FFFFFF"/>
          </a:solidFill>
          <a:ln w="12700">
            <a:solidFill>
              <a:srgbClr val="C9D6CC"/>
            </a:solidFill>
            <a:prstDash val="solid"/>
          </a:ln>
        </p:spPr>
      </p:sp>
      <p:sp>
        <p:nvSpPr>
          <p:cNvPr id="61" name="Text 58"/>
          <p:cNvSpPr txBox="1"/>
          <p:nvPr/>
        </p:nvSpPr>
        <p:spPr>
          <a:xfrm>
            <a:off x="10027310" y="3044952"/>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8</a:t>
            </a:r>
            <a:endParaRPr lang="en-US" sz="1100" dirty="0"/>
          </a:p>
        </p:txBody>
      </p:sp>
      <p:sp>
        <p:nvSpPr>
          <p:cNvPr id="62" name="Shape 59"/>
          <p:cNvSpPr/>
          <p:nvPr/>
        </p:nvSpPr>
        <p:spPr>
          <a:xfrm>
            <a:off x="9981590" y="3703320"/>
            <a:ext cx="365760" cy="256032"/>
          </a:xfrm>
          <a:prstGeom prst="roundRect">
            <a:avLst>
              <a:gd name="adj" fmla="val 28571"/>
            </a:avLst>
          </a:prstGeom>
          <a:solidFill>
            <a:srgbClr val="FFFFFF"/>
          </a:solidFill>
          <a:ln w="12700">
            <a:solidFill>
              <a:srgbClr val="C9D6CC"/>
            </a:solidFill>
            <a:prstDash val="solid"/>
          </a:ln>
        </p:spPr>
      </p:sp>
      <p:sp>
        <p:nvSpPr>
          <p:cNvPr id="63" name="Text 60"/>
          <p:cNvSpPr txBox="1"/>
          <p:nvPr/>
        </p:nvSpPr>
        <p:spPr>
          <a:xfrm>
            <a:off x="9981590" y="3703320"/>
            <a:ext cx="365760" cy="256032"/>
          </a:xfrm>
          <a:prstGeom prst="rect">
            <a:avLst/>
          </a:prstGeom>
          <a:noFill/>
          <a:ln/>
        </p:spPr>
        <p:txBody>
          <a:bodyPr wrap="square" lIns="0" tIns="0" rIns="0" bIns="0" rtlCol="0" anchor="ctr"/>
          <a:lstStyle/>
          <a:p>
            <a:pPr algn="ctr" indent="0" marL="0">
              <a:buNone/>
            </a:pPr>
            <a:r>
              <a:rPr lang="en-US" sz="1100" b="1" dirty="0">
                <a:solidFill>
                  <a:srgbClr val="2F6B4F"/>
                </a:solidFill>
              </a:rPr>
              <a:t>10</a:t>
            </a:r>
            <a:endParaRPr lang="en-US" sz="1100" dirty="0"/>
          </a:p>
        </p:txBody>
      </p:sp>
      <p:sp>
        <p:nvSpPr>
          <p:cNvPr id="64" name="Shape 61"/>
          <p:cNvSpPr/>
          <p:nvPr/>
        </p:nvSpPr>
        <p:spPr>
          <a:xfrm>
            <a:off x="10883189" y="2715768"/>
            <a:ext cx="274320" cy="256032"/>
          </a:xfrm>
          <a:prstGeom prst="roundRect">
            <a:avLst>
              <a:gd name="adj" fmla="val 28571"/>
            </a:avLst>
          </a:prstGeom>
          <a:solidFill>
            <a:srgbClr val="FFFFFF"/>
          </a:solidFill>
          <a:ln w="12700">
            <a:solidFill>
              <a:srgbClr val="C9D6CC"/>
            </a:solidFill>
            <a:prstDash val="solid"/>
          </a:ln>
        </p:spPr>
      </p:sp>
      <p:sp>
        <p:nvSpPr>
          <p:cNvPr id="65" name="Text 62"/>
          <p:cNvSpPr txBox="1"/>
          <p:nvPr/>
        </p:nvSpPr>
        <p:spPr>
          <a:xfrm>
            <a:off x="10883189" y="2715768"/>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6</a:t>
            </a:r>
            <a:endParaRPr lang="en-US" sz="1100" dirty="0"/>
          </a:p>
        </p:txBody>
      </p:sp>
      <p:sp>
        <p:nvSpPr>
          <p:cNvPr id="66" name="Shape 63"/>
          <p:cNvSpPr/>
          <p:nvPr/>
        </p:nvSpPr>
        <p:spPr>
          <a:xfrm>
            <a:off x="9171432" y="3374136"/>
            <a:ext cx="274320" cy="256032"/>
          </a:xfrm>
          <a:prstGeom prst="roundRect">
            <a:avLst>
              <a:gd name="adj" fmla="val 28571"/>
            </a:avLst>
          </a:prstGeom>
          <a:solidFill>
            <a:schemeClr val="accent1"/>
          </a:solidFill>
          <a:ln w="12700">
            <a:solidFill>
              <a:schemeClr val="accent1"/>
            </a:solidFill>
            <a:prstDash val="solid"/>
          </a:ln>
        </p:spPr>
      </p:sp>
      <p:sp>
        <p:nvSpPr>
          <p:cNvPr id="67" name="Text 64"/>
          <p:cNvSpPr txBox="1"/>
          <p:nvPr/>
        </p:nvSpPr>
        <p:spPr>
          <a:xfrm>
            <a:off x="9171432" y="3374136"/>
            <a:ext cx="274320"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68" name="Shape 65"/>
          <p:cNvSpPr/>
          <p:nvPr/>
        </p:nvSpPr>
        <p:spPr>
          <a:xfrm>
            <a:off x="9500616" y="3044952"/>
            <a:ext cx="274320" cy="256032"/>
          </a:xfrm>
          <a:prstGeom prst="roundRect">
            <a:avLst>
              <a:gd name="adj" fmla="val 28571"/>
            </a:avLst>
          </a:prstGeom>
          <a:solidFill>
            <a:schemeClr val="accent1"/>
          </a:solidFill>
          <a:ln w="12700">
            <a:solidFill>
              <a:schemeClr val="accent1"/>
            </a:solidFill>
            <a:prstDash val="solid"/>
          </a:ln>
        </p:spPr>
      </p:sp>
      <p:sp>
        <p:nvSpPr>
          <p:cNvPr id="69" name="Text 66"/>
          <p:cNvSpPr txBox="1"/>
          <p:nvPr/>
        </p:nvSpPr>
        <p:spPr>
          <a:xfrm>
            <a:off x="9500616" y="3044952"/>
            <a:ext cx="274320" cy="25603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70" name="Shape 67"/>
          <p:cNvSpPr/>
          <p:nvPr/>
        </p:nvSpPr>
        <p:spPr>
          <a:xfrm>
            <a:off x="10027310" y="2386584"/>
            <a:ext cx="274320" cy="256032"/>
          </a:xfrm>
          <a:prstGeom prst="roundRect">
            <a:avLst>
              <a:gd name="adj" fmla="val 28571"/>
            </a:avLst>
          </a:prstGeom>
          <a:solidFill>
            <a:schemeClr val="accent1"/>
          </a:solidFill>
          <a:ln w="12700">
            <a:solidFill>
              <a:schemeClr val="accent1"/>
            </a:solidFill>
            <a:prstDash val="solid"/>
          </a:ln>
        </p:spPr>
      </p:sp>
      <p:sp>
        <p:nvSpPr>
          <p:cNvPr id="71" name="Text 68"/>
          <p:cNvSpPr txBox="1"/>
          <p:nvPr/>
        </p:nvSpPr>
        <p:spPr>
          <a:xfrm>
            <a:off x="10027310" y="2386584"/>
            <a:ext cx="274320" cy="256032"/>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72" name="Shape 69"/>
          <p:cNvSpPr/>
          <p:nvPr/>
        </p:nvSpPr>
        <p:spPr>
          <a:xfrm>
            <a:off x="10554005" y="3044952"/>
            <a:ext cx="274320" cy="256032"/>
          </a:xfrm>
          <a:prstGeom prst="roundRect">
            <a:avLst>
              <a:gd name="adj" fmla="val 28571"/>
            </a:avLst>
          </a:prstGeom>
          <a:solidFill>
            <a:schemeClr val="accent1"/>
          </a:solidFill>
          <a:ln w="12700">
            <a:solidFill>
              <a:schemeClr val="accent1"/>
            </a:solidFill>
            <a:prstDash val="solid"/>
          </a:ln>
        </p:spPr>
      </p:sp>
      <p:sp>
        <p:nvSpPr>
          <p:cNvPr id="73" name="Text 70"/>
          <p:cNvSpPr txBox="1"/>
          <p:nvPr/>
        </p:nvSpPr>
        <p:spPr>
          <a:xfrm>
            <a:off x="10554005" y="3044952"/>
            <a:ext cx="274320"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74" name="Shape 71"/>
          <p:cNvSpPr/>
          <p:nvPr/>
        </p:nvSpPr>
        <p:spPr>
          <a:xfrm>
            <a:off x="10883189" y="3374136"/>
            <a:ext cx="274320" cy="256032"/>
          </a:xfrm>
          <a:prstGeom prst="roundRect">
            <a:avLst>
              <a:gd name="adj" fmla="val 28571"/>
            </a:avLst>
          </a:prstGeom>
          <a:solidFill>
            <a:schemeClr val="accent1"/>
          </a:solidFill>
          <a:ln w="12700">
            <a:solidFill>
              <a:schemeClr val="accent1"/>
            </a:solidFill>
            <a:prstDash val="solid"/>
          </a:ln>
        </p:spPr>
      </p:sp>
      <p:sp>
        <p:nvSpPr>
          <p:cNvPr id="75" name="Text 72"/>
          <p:cNvSpPr txBox="1"/>
          <p:nvPr/>
        </p:nvSpPr>
        <p:spPr>
          <a:xfrm>
            <a:off x="10883189" y="3374136"/>
            <a:ext cx="274320" cy="256032"/>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76" name="Shape 73"/>
          <p:cNvSpPr/>
          <p:nvPr/>
        </p:nvSpPr>
        <p:spPr>
          <a:xfrm>
            <a:off x="8769096" y="2962656"/>
            <a:ext cx="420624" cy="420624"/>
          </a:xfrm>
          <a:prstGeom prst="ellipse">
            <a:avLst/>
          </a:prstGeom>
          <a:solidFill>
            <a:schemeClr val="accent1"/>
          </a:solidFill>
          <a:ln w="22225">
            <a:solidFill>
              <a:schemeClr val="accent1"/>
            </a:solidFill>
            <a:prstDash val="solid"/>
          </a:ln>
        </p:spPr>
      </p:sp>
      <p:sp>
        <p:nvSpPr>
          <p:cNvPr id="77" name="Text 74"/>
          <p:cNvSpPr txBox="1"/>
          <p:nvPr/>
        </p:nvSpPr>
        <p:spPr>
          <a:xfrm>
            <a:off x="8769096" y="296265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8" name="Shape 75"/>
          <p:cNvSpPr/>
          <p:nvPr/>
        </p:nvSpPr>
        <p:spPr>
          <a:xfrm>
            <a:off x="9427464" y="2304288"/>
            <a:ext cx="420624" cy="420624"/>
          </a:xfrm>
          <a:prstGeom prst="ellipse">
            <a:avLst/>
          </a:prstGeom>
          <a:solidFill>
            <a:schemeClr val="accent1"/>
          </a:solidFill>
          <a:ln w="22225">
            <a:solidFill>
              <a:schemeClr val="accent1"/>
            </a:solidFill>
            <a:prstDash val="solid"/>
          </a:ln>
        </p:spPr>
      </p:sp>
      <p:sp>
        <p:nvSpPr>
          <p:cNvPr id="79" name="Text 76"/>
          <p:cNvSpPr txBox="1"/>
          <p:nvPr/>
        </p:nvSpPr>
        <p:spPr>
          <a:xfrm>
            <a:off x="9427464" y="23042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80" name="Shape 77"/>
          <p:cNvSpPr/>
          <p:nvPr/>
        </p:nvSpPr>
        <p:spPr>
          <a:xfrm>
            <a:off x="9427464" y="3621024"/>
            <a:ext cx="420624" cy="420624"/>
          </a:xfrm>
          <a:prstGeom prst="ellipse">
            <a:avLst/>
          </a:prstGeom>
          <a:solidFill>
            <a:schemeClr val="accent1"/>
          </a:solidFill>
          <a:ln w="22225">
            <a:solidFill>
              <a:schemeClr val="accent1"/>
            </a:solidFill>
            <a:prstDash val="solid"/>
          </a:ln>
        </p:spPr>
      </p:sp>
      <p:sp>
        <p:nvSpPr>
          <p:cNvPr id="81" name="Text 78"/>
          <p:cNvSpPr txBox="1"/>
          <p:nvPr/>
        </p:nvSpPr>
        <p:spPr>
          <a:xfrm>
            <a:off x="9427464" y="36210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82" name="Shape 79"/>
          <p:cNvSpPr/>
          <p:nvPr/>
        </p:nvSpPr>
        <p:spPr>
          <a:xfrm>
            <a:off x="10480853" y="2304288"/>
            <a:ext cx="420624" cy="420624"/>
          </a:xfrm>
          <a:prstGeom prst="ellipse">
            <a:avLst/>
          </a:prstGeom>
          <a:solidFill>
            <a:schemeClr val="accent1"/>
          </a:solidFill>
          <a:ln w="22225">
            <a:solidFill>
              <a:schemeClr val="accent1"/>
            </a:solidFill>
            <a:prstDash val="solid"/>
          </a:ln>
        </p:spPr>
      </p:sp>
      <p:sp>
        <p:nvSpPr>
          <p:cNvPr id="83" name="Text 80"/>
          <p:cNvSpPr txBox="1"/>
          <p:nvPr/>
        </p:nvSpPr>
        <p:spPr>
          <a:xfrm>
            <a:off x="10480853" y="23042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84" name="Shape 81"/>
          <p:cNvSpPr/>
          <p:nvPr/>
        </p:nvSpPr>
        <p:spPr>
          <a:xfrm>
            <a:off x="10480853" y="3621024"/>
            <a:ext cx="420624" cy="420624"/>
          </a:xfrm>
          <a:prstGeom prst="ellipse">
            <a:avLst/>
          </a:prstGeom>
          <a:solidFill>
            <a:schemeClr val="accent1"/>
          </a:solidFill>
          <a:ln w="22225">
            <a:solidFill>
              <a:schemeClr val="accent1"/>
            </a:solidFill>
            <a:prstDash val="solid"/>
          </a:ln>
        </p:spPr>
      </p:sp>
      <p:sp>
        <p:nvSpPr>
          <p:cNvPr id="85" name="Text 82"/>
          <p:cNvSpPr txBox="1"/>
          <p:nvPr/>
        </p:nvSpPr>
        <p:spPr>
          <a:xfrm>
            <a:off x="10480853" y="36210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86" name="Shape 83"/>
          <p:cNvSpPr/>
          <p:nvPr/>
        </p:nvSpPr>
        <p:spPr>
          <a:xfrm>
            <a:off x="11139221" y="2962656"/>
            <a:ext cx="420624" cy="420624"/>
          </a:xfrm>
          <a:prstGeom prst="ellipse">
            <a:avLst/>
          </a:prstGeom>
          <a:solidFill>
            <a:schemeClr val="accent1"/>
          </a:solidFill>
          <a:ln w="22225">
            <a:solidFill>
              <a:schemeClr val="accent1"/>
            </a:solidFill>
            <a:prstDash val="solid"/>
          </a:ln>
        </p:spPr>
      </p:sp>
      <p:sp>
        <p:nvSpPr>
          <p:cNvPr id="87" name="Text 84"/>
          <p:cNvSpPr txBox="1"/>
          <p:nvPr/>
        </p:nvSpPr>
        <p:spPr>
          <a:xfrm>
            <a:off x="11139221" y="296265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88" name="Text 85"/>
          <p:cNvSpPr txBox="1"/>
          <p:nvPr/>
        </p:nvSpPr>
        <p:spPr>
          <a:xfrm>
            <a:off x="8915400" y="4297680"/>
            <a:ext cx="2560320" cy="502920"/>
          </a:xfrm>
          <a:prstGeom prst="rect">
            <a:avLst/>
          </a:prstGeom>
          <a:noFill/>
          <a:ln/>
        </p:spPr>
        <p:txBody>
          <a:bodyPr wrap="square" lIns="0" tIns="0" rIns="0" bIns="0" rtlCol="0" anchor="t"/>
          <a:lstStyle/>
          <a:p>
            <a:pPr indent="0" marL="0">
              <a:buNone/>
            </a:pPr>
            <a:r>
              <a:rPr lang="en-US" sz="2600" b="1" dirty="0">
                <a:solidFill>
                  <a:srgbClr val="047857"/>
                </a:solidFill>
                <a:latin typeface="Cambria" pitchFamily="34" charset="0"/>
                <a:ea typeface="Cambria" pitchFamily="34" charset="-122"/>
                <a:cs typeface="Cambria" pitchFamily="34" charset="-120"/>
              </a:rPr>
              <a:t>Total = 13</a:t>
            </a:r>
            <a:endParaRPr lang="en-US" sz="2600" dirty="0"/>
          </a:p>
        </p:txBody>
      </p:sp>
      <p:sp>
        <p:nvSpPr>
          <p:cNvPr id="89" name="Shape 86"/>
          <p:cNvSpPr/>
          <p:nvPr/>
        </p:nvSpPr>
        <p:spPr>
          <a:xfrm>
            <a:off x="5577840" y="5257800"/>
            <a:ext cx="6080760" cy="868680"/>
          </a:xfrm>
          <a:prstGeom prst="roundRect">
            <a:avLst>
              <a:gd name="adj" fmla="val 12632"/>
            </a:avLst>
          </a:prstGeom>
          <a:solidFill>
            <a:schemeClr val="tx2"/>
          </a:solidFill>
          <a:ln/>
        </p:spPr>
      </p:sp>
      <p:sp>
        <p:nvSpPr>
          <p:cNvPr id="90" name="Text 87"/>
          <p:cNvSpPr txBox="1"/>
          <p:nvPr/>
        </p:nvSpPr>
        <p:spPr>
          <a:xfrm>
            <a:off x="5852160" y="5257800"/>
            <a:ext cx="5532120" cy="868680"/>
          </a:xfrm>
          <a:prstGeom prst="rect">
            <a:avLst/>
          </a:prstGeom>
          <a:noFill/>
          <a:ln/>
        </p:spPr>
        <p:txBody>
          <a:bodyPr wrap="square" lIns="0" tIns="0" rIns="0" bIns="0" rtlCol="0" anchor="ctr"/>
          <a:lstStyle/>
          <a:p>
            <a:pPr indent="0" marL="0">
              <a:buNone/>
            </a:pPr>
            <a:r>
              <a:rPr lang="en-US" sz="1500" dirty="0">
                <a:solidFill>
                  <a:schemeClr val="bg1"/>
                </a:solidFill>
              </a:rPr>
              <a:t>Cut property: split the vertices into two groups, and the cheapest crossing edge is safe to take.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B5A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Introduction to Prim's Algorithm</a:t>
            </a:r>
            <a:endParaRPr lang="en-US" sz="3600" dirty="0"/>
          </a:p>
        </p:txBody>
      </p:sp>
      <p:sp>
        <p:nvSpPr>
          <p:cNvPr id="4" name="Text 1"/>
          <p:cNvSpPr txBox="1"/>
          <p:nvPr/>
        </p:nvSpPr>
        <p:spPr>
          <a:xfrm>
            <a:off x="548640" y="1463040"/>
            <a:ext cx="5669280" cy="3108960"/>
          </a:xfrm>
          <a:prstGeom prst="rect">
            <a:avLst/>
          </a:prstGeom>
          <a:noFill/>
          <a:ln/>
        </p:spPr>
        <p:txBody>
          <a:bodyPr wrap="square" lIns="0" tIns="0" rIns="0" bIns="0" rtlCol="0" anchor="t"/>
          <a:lstStyle/>
          <a:p>
            <a:pPr marL="342900" indent="-342900">
              <a:spcAft>
                <a:spcPts val="1000"/>
              </a:spcAft>
              <a:buSzPct val="100000"/>
              <a:buChar char="•"/>
            </a:pPr>
            <a:r>
              <a:rPr lang="en-US" sz="1700" b="1" dirty="0">
                <a:solidFill>
                  <a:schemeClr val="tx1"/>
                </a:solidFill>
              </a:rPr>
              <a:t>Greedy: </a:t>
            </a:r>
            <a:pPr indent="0" marL="0">
              <a:spcAft>
                <a:spcPts val="1000"/>
              </a:spcAft>
              <a:buNone/>
            </a:pPr>
            <a:r>
              <a:rPr lang="en-US" sz="1700" dirty="0">
                <a:solidFill>
                  <a:schemeClr val="tx1"/>
                </a:solidFill>
              </a:rPr>
              <a:t>best local choice at every step, provably optimal for MSTs</a:t>
            </a:r>
            <a:endParaRPr lang="en-US" sz="1700" dirty="0"/>
          </a:p>
          <a:p>
            <a:pPr marL="342900" indent="-342900">
              <a:spcAft>
                <a:spcPts val="1000"/>
              </a:spcAft>
              <a:buSzPct val="100000"/>
              <a:buChar char="•"/>
            </a:pPr>
            <a:r>
              <a:rPr lang="en-US" sz="1700" b="1" dirty="0">
                <a:solidFill>
                  <a:schemeClr val="tx1"/>
                </a:solidFill>
              </a:rPr>
              <a:t>Vertex-based: </a:t>
            </a:r>
            <a:pPr indent="0" marL="0">
              <a:spcAft>
                <a:spcPts val="1000"/>
              </a:spcAft>
              <a:buNone/>
            </a:pPr>
            <a:r>
              <a:rPr lang="en-US" sz="1700" dirty="0">
                <a:solidFill>
                  <a:schemeClr val="tx1"/>
                </a:solidFill>
              </a:rPr>
              <a:t>grows a single tree outward from a start vertex</a:t>
            </a:r>
            <a:endParaRPr lang="en-US" sz="1700" dirty="0"/>
          </a:p>
          <a:p>
            <a:pPr marL="342900" indent="-342900">
              <a:spcAft>
                <a:spcPts val="1000"/>
              </a:spcAft>
              <a:buSzPct val="100000"/>
              <a:buChar char="•"/>
            </a:pPr>
            <a:r>
              <a:rPr lang="en-US" sz="1700" b="1" dirty="0">
                <a:solidFill>
                  <a:schemeClr val="tx1"/>
                </a:solidFill>
              </a:rPr>
              <a:t>Input: </a:t>
            </a:r>
            <a:pPr indent="0" marL="0">
              <a:spcAft>
                <a:spcPts val="1000"/>
              </a:spcAft>
              <a:buNone/>
            </a:pPr>
            <a:r>
              <a:rPr lang="en-US" sz="1700" dirty="0">
                <a:solidFill>
                  <a:schemeClr val="tx1"/>
                </a:solidFill>
              </a:rPr>
              <a:t>connected, undirected, weighted graph</a:t>
            </a:r>
            <a:endParaRPr lang="en-US" sz="1700" dirty="0"/>
          </a:p>
          <a:p>
            <a:pPr marL="342900" indent="-342900">
              <a:spcAft>
                <a:spcPts val="1000"/>
              </a:spcAft>
              <a:buSzPct val="100000"/>
              <a:buChar char="•"/>
            </a:pPr>
            <a:r>
              <a:rPr lang="en-US" sz="1700" b="1" dirty="0">
                <a:solidFill>
                  <a:schemeClr val="tx1"/>
                </a:solidFill>
              </a:rPr>
              <a:t>Also called: </a:t>
            </a:r>
            <a:pPr indent="0" marL="0">
              <a:spcAft>
                <a:spcPts val="1000"/>
              </a:spcAft>
              <a:buNone/>
            </a:pPr>
            <a:r>
              <a:rPr lang="en-US" sz="1700" dirty="0">
                <a:solidFill>
                  <a:schemeClr val="tx1"/>
                </a:solidFill>
              </a:rPr>
              <a:t>the Jarník–Prim algorithm (or DJP)</a:t>
            </a:r>
            <a:endParaRPr lang="en-US" sz="1700" dirty="0"/>
          </a:p>
        </p:txBody>
      </p:sp>
      <p:sp>
        <p:nvSpPr>
          <p:cNvPr id="5" name="Shape 2"/>
          <p:cNvSpPr/>
          <p:nvPr/>
        </p:nvSpPr>
        <p:spPr>
          <a:xfrm>
            <a:off x="548640" y="4754880"/>
            <a:ext cx="5669280" cy="1097280"/>
          </a:xfrm>
          <a:prstGeom prst="roundRect">
            <a:avLst>
              <a:gd name="adj" fmla="val 10000"/>
            </a:avLst>
          </a:prstGeom>
          <a:solidFill>
            <a:schemeClr val="tx2"/>
          </a:solidFill>
          <a:ln/>
        </p:spPr>
      </p:sp>
      <p:sp>
        <p:nvSpPr>
          <p:cNvPr id="6" name="Text 3"/>
          <p:cNvSpPr txBox="1"/>
          <p:nvPr/>
        </p:nvSpPr>
        <p:spPr>
          <a:xfrm>
            <a:off x="822960" y="4754880"/>
            <a:ext cx="5120640" cy="109728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Greedy choice + cut property = optimal MST</a:t>
            </a:r>
            <a:endParaRPr lang="en-US" sz="2000" dirty="0"/>
          </a:p>
        </p:txBody>
      </p:sp>
      <p:sp>
        <p:nvSpPr>
          <p:cNvPr id="7" name="Shape 4"/>
          <p:cNvSpPr/>
          <p:nvPr/>
        </p:nvSpPr>
        <p:spPr>
          <a:xfrm>
            <a:off x="6766560" y="1463040"/>
            <a:ext cx="4846320" cy="1280160"/>
          </a:xfrm>
          <a:prstGeom prst="roundRect">
            <a:avLst>
              <a:gd name="adj" fmla="val 8571"/>
            </a:avLst>
          </a:prstGeom>
          <a:solidFill>
            <a:schemeClr val="bg2"/>
          </a:solidFill>
          <a:ln/>
        </p:spPr>
      </p:sp>
      <p:sp>
        <p:nvSpPr>
          <p:cNvPr id="8" name="Text 5"/>
          <p:cNvSpPr txBox="1"/>
          <p:nvPr/>
        </p:nvSpPr>
        <p:spPr>
          <a:xfrm>
            <a:off x="6995160" y="1463040"/>
            <a:ext cx="1280160" cy="1280160"/>
          </a:xfrm>
          <a:prstGeom prst="rect">
            <a:avLst/>
          </a:prstGeom>
          <a:noFill/>
          <a:ln/>
        </p:spPr>
        <p:txBody>
          <a:bodyPr wrap="square" lIns="0" tIns="0" rIns="0" bIns="0" rtlCol="0" anchor="ctr"/>
          <a:lstStyle/>
          <a:p>
            <a:pPr indent="0" marL="0">
              <a:buNone/>
            </a:pPr>
            <a:r>
              <a:rPr lang="en-US" sz="2800" b="1" dirty="0">
                <a:solidFill>
                  <a:schemeClr val="accent6"/>
                </a:solidFill>
                <a:latin typeface="Cambria" pitchFamily="34" charset="0"/>
                <a:ea typeface="Cambria" pitchFamily="34" charset="-122"/>
                <a:cs typeface="Cambria" pitchFamily="34" charset="-120"/>
              </a:rPr>
              <a:t>1930</a:t>
            </a:r>
            <a:endParaRPr lang="en-US" sz="2800" dirty="0"/>
          </a:p>
        </p:txBody>
      </p:sp>
      <p:sp>
        <p:nvSpPr>
          <p:cNvPr id="9" name="Text 6"/>
          <p:cNvSpPr txBox="1"/>
          <p:nvPr/>
        </p:nvSpPr>
        <p:spPr>
          <a:xfrm>
            <a:off x="8321040" y="1463040"/>
            <a:ext cx="3108960" cy="1280160"/>
          </a:xfrm>
          <a:prstGeom prst="rect">
            <a:avLst/>
          </a:prstGeom>
          <a:noFill/>
          <a:ln/>
        </p:spPr>
        <p:txBody>
          <a:bodyPr wrap="square" lIns="0" tIns="0" rIns="0" bIns="0" rtlCol="0" anchor="ctr"/>
          <a:lstStyle/>
          <a:p>
            <a:pPr indent="0" marL="0">
              <a:buNone/>
            </a:pPr>
            <a:r>
              <a:rPr lang="en-US" sz="1800" b="1" dirty="0">
                <a:solidFill>
                  <a:schemeClr val="tx1"/>
                </a:solidFill>
              </a:rPr>
              <a:t>Vojtěch Jarník</a:t>
            </a:r>
            <a:endParaRPr lang="en-US" sz="1800" dirty="0"/>
          </a:p>
          <a:p>
            <a:pPr indent="0" marL="0">
              <a:buNone/>
            </a:pPr>
            <a:r>
              <a:rPr lang="en-US" sz="1500" dirty="0">
                <a:solidFill>
                  <a:schemeClr val="tx1"/>
                </a:solidFill>
              </a:rPr>
              <a:t>Czech mathematician; first to describe it</a:t>
            </a:r>
            <a:endParaRPr lang="en-US" sz="1800" dirty="0"/>
          </a:p>
        </p:txBody>
      </p:sp>
      <p:sp>
        <p:nvSpPr>
          <p:cNvPr id="10" name="Shape 7"/>
          <p:cNvSpPr/>
          <p:nvPr/>
        </p:nvSpPr>
        <p:spPr>
          <a:xfrm>
            <a:off x="6766560" y="2971800"/>
            <a:ext cx="4846320" cy="1280160"/>
          </a:xfrm>
          <a:prstGeom prst="roundRect">
            <a:avLst>
              <a:gd name="adj" fmla="val 8571"/>
            </a:avLst>
          </a:prstGeom>
          <a:solidFill>
            <a:schemeClr val="bg2"/>
          </a:solidFill>
          <a:ln/>
        </p:spPr>
      </p:sp>
      <p:sp>
        <p:nvSpPr>
          <p:cNvPr id="11" name="Text 8"/>
          <p:cNvSpPr txBox="1"/>
          <p:nvPr/>
        </p:nvSpPr>
        <p:spPr>
          <a:xfrm>
            <a:off x="6995160" y="2971800"/>
            <a:ext cx="1280160" cy="1280160"/>
          </a:xfrm>
          <a:prstGeom prst="rect">
            <a:avLst/>
          </a:prstGeom>
          <a:noFill/>
          <a:ln/>
        </p:spPr>
        <p:txBody>
          <a:bodyPr wrap="square" lIns="0" tIns="0" rIns="0" bIns="0" rtlCol="0" anchor="ctr"/>
          <a:lstStyle/>
          <a:p>
            <a:pPr indent="0" marL="0">
              <a:buNone/>
            </a:pPr>
            <a:r>
              <a:rPr lang="en-US" sz="2800" b="1" dirty="0">
                <a:solidFill>
                  <a:schemeClr val="accent6"/>
                </a:solidFill>
                <a:latin typeface="Cambria" pitchFamily="34" charset="0"/>
                <a:ea typeface="Cambria" pitchFamily="34" charset="-122"/>
                <a:cs typeface="Cambria" pitchFamily="34" charset="-120"/>
              </a:rPr>
              <a:t>1957</a:t>
            </a:r>
            <a:endParaRPr lang="en-US" sz="2800" dirty="0"/>
          </a:p>
        </p:txBody>
      </p:sp>
      <p:sp>
        <p:nvSpPr>
          <p:cNvPr id="12" name="Text 9"/>
          <p:cNvSpPr txBox="1"/>
          <p:nvPr/>
        </p:nvSpPr>
        <p:spPr>
          <a:xfrm>
            <a:off x="8321040" y="2971800"/>
            <a:ext cx="3108960" cy="1280160"/>
          </a:xfrm>
          <a:prstGeom prst="rect">
            <a:avLst/>
          </a:prstGeom>
          <a:noFill/>
          <a:ln/>
        </p:spPr>
        <p:txBody>
          <a:bodyPr wrap="square" lIns="0" tIns="0" rIns="0" bIns="0" rtlCol="0" anchor="ctr"/>
          <a:lstStyle/>
          <a:p>
            <a:pPr indent="0" marL="0">
              <a:buNone/>
            </a:pPr>
            <a:r>
              <a:rPr lang="en-US" sz="1800" b="1" dirty="0">
                <a:solidFill>
                  <a:schemeClr val="tx1"/>
                </a:solidFill>
              </a:rPr>
              <a:t>Robert C. Prim</a:t>
            </a:r>
            <a:endParaRPr lang="en-US" sz="1800" dirty="0"/>
          </a:p>
          <a:p>
            <a:pPr indent="0" marL="0">
              <a:buNone/>
            </a:pPr>
            <a:r>
              <a:rPr lang="en-US" sz="1500" dirty="0">
                <a:solidFill>
                  <a:schemeClr val="tx1"/>
                </a:solidFill>
              </a:rPr>
              <a:t>Rediscovered it at Bell Labs</a:t>
            </a:r>
            <a:endParaRPr lang="en-US" sz="1800" dirty="0"/>
          </a:p>
        </p:txBody>
      </p:sp>
      <p:sp>
        <p:nvSpPr>
          <p:cNvPr id="13" name="Shape 10"/>
          <p:cNvSpPr/>
          <p:nvPr/>
        </p:nvSpPr>
        <p:spPr>
          <a:xfrm>
            <a:off x="6766560" y="4480560"/>
            <a:ext cx="4846320" cy="1280160"/>
          </a:xfrm>
          <a:prstGeom prst="roundRect">
            <a:avLst>
              <a:gd name="adj" fmla="val 8571"/>
            </a:avLst>
          </a:prstGeom>
          <a:solidFill>
            <a:schemeClr val="bg2"/>
          </a:solidFill>
          <a:ln/>
        </p:spPr>
      </p:sp>
      <p:sp>
        <p:nvSpPr>
          <p:cNvPr id="14" name="Text 11"/>
          <p:cNvSpPr txBox="1"/>
          <p:nvPr/>
        </p:nvSpPr>
        <p:spPr>
          <a:xfrm>
            <a:off x="6995160" y="4480560"/>
            <a:ext cx="1280160" cy="1280160"/>
          </a:xfrm>
          <a:prstGeom prst="rect">
            <a:avLst/>
          </a:prstGeom>
          <a:noFill/>
          <a:ln/>
        </p:spPr>
        <p:txBody>
          <a:bodyPr wrap="square" lIns="0" tIns="0" rIns="0" bIns="0" rtlCol="0" anchor="ctr"/>
          <a:lstStyle/>
          <a:p>
            <a:pPr indent="0" marL="0">
              <a:buNone/>
            </a:pPr>
            <a:r>
              <a:rPr lang="en-US" sz="2800" b="1" dirty="0">
                <a:solidFill>
                  <a:schemeClr val="accent6"/>
                </a:solidFill>
                <a:latin typeface="Cambria" pitchFamily="34" charset="0"/>
                <a:ea typeface="Cambria" pitchFamily="34" charset="-122"/>
                <a:cs typeface="Cambria" pitchFamily="34" charset="-120"/>
              </a:rPr>
              <a:t>1959</a:t>
            </a:r>
            <a:endParaRPr lang="en-US" sz="2800" dirty="0"/>
          </a:p>
        </p:txBody>
      </p:sp>
      <p:sp>
        <p:nvSpPr>
          <p:cNvPr id="15" name="Text 12"/>
          <p:cNvSpPr txBox="1"/>
          <p:nvPr/>
        </p:nvSpPr>
        <p:spPr>
          <a:xfrm>
            <a:off x="8321040" y="4480560"/>
            <a:ext cx="3108960" cy="1280160"/>
          </a:xfrm>
          <a:prstGeom prst="rect">
            <a:avLst/>
          </a:prstGeom>
          <a:noFill/>
          <a:ln/>
        </p:spPr>
        <p:txBody>
          <a:bodyPr wrap="square" lIns="0" tIns="0" rIns="0" bIns="0" rtlCol="0" anchor="ctr"/>
          <a:lstStyle/>
          <a:p>
            <a:pPr indent="0" marL="0">
              <a:buNone/>
            </a:pPr>
            <a:r>
              <a:rPr lang="en-US" sz="1800" b="1" dirty="0">
                <a:solidFill>
                  <a:schemeClr val="tx1"/>
                </a:solidFill>
              </a:rPr>
              <a:t>Edsger W. Dijkstra</a:t>
            </a:r>
            <a:endParaRPr lang="en-US" sz="1800" dirty="0"/>
          </a:p>
          <a:p>
            <a:pPr indent="0" marL="0">
              <a:buNone/>
            </a:pPr>
            <a:r>
              <a:rPr lang="en-US" sz="1500" dirty="0">
                <a:solidFill>
                  <a:schemeClr val="tx1"/>
                </a:solidFill>
              </a:rPr>
              <a:t>Rediscovered it again</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B5A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How Prim’s Algorithm Works</a:t>
            </a:r>
            <a:endParaRPr lang="en-US" sz="3600" dirty="0"/>
          </a:p>
        </p:txBody>
      </p:sp>
      <p:sp>
        <p:nvSpPr>
          <p:cNvPr id="4" name="Shape 1"/>
          <p:cNvSpPr/>
          <p:nvPr/>
        </p:nvSpPr>
        <p:spPr>
          <a:xfrm>
            <a:off x="548640" y="1463040"/>
            <a:ext cx="5669280" cy="960120"/>
          </a:xfrm>
          <a:prstGeom prst="roundRect">
            <a:avLst>
              <a:gd name="adj" fmla="val 11429"/>
            </a:avLst>
          </a:prstGeom>
          <a:solidFill>
            <a:schemeClr val="bg2"/>
          </a:solidFill>
          <a:ln/>
        </p:spPr>
      </p:sp>
      <p:sp>
        <p:nvSpPr>
          <p:cNvPr id="5" name="Shape 2"/>
          <p:cNvSpPr/>
          <p:nvPr/>
        </p:nvSpPr>
        <p:spPr>
          <a:xfrm>
            <a:off x="731520" y="1645920"/>
            <a:ext cx="594360" cy="594360"/>
          </a:xfrm>
          <a:prstGeom prst="ellipse">
            <a:avLst/>
          </a:prstGeom>
          <a:solidFill>
            <a:schemeClr val="accent6"/>
          </a:solidFill>
          <a:ln/>
        </p:spPr>
      </p:sp>
      <p:sp>
        <p:nvSpPr>
          <p:cNvPr id="6" name="Text 3"/>
          <p:cNvSpPr txBox="1"/>
          <p:nvPr/>
        </p:nvSpPr>
        <p:spPr>
          <a:xfrm>
            <a:off x="731520" y="164592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 4"/>
          <p:cNvSpPr txBox="1"/>
          <p:nvPr/>
        </p:nvSpPr>
        <p:spPr>
          <a:xfrm>
            <a:off x="1554480" y="1463040"/>
            <a:ext cx="4480560" cy="960120"/>
          </a:xfrm>
          <a:prstGeom prst="rect">
            <a:avLst/>
          </a:prstGeom>
          <a:noFill/>
          <a:ln/>
        </p:spPr>
        <p:txBody>
          <a:bodyPr wrap="square" lIns="0" tIns="0" rIns="0" bIns="0" rtlCol="0" anchor="ctr"/>
          <a:lstStyle/>
          <a:p>
            <a:pPr indent="0" marL="0">
              <a:buNone/>
            </a:pPr>
            <a:r>
              <a:rPr lang="en-US" sz="1800" b="1" dirty="0">
                <a:solidFill>
                  <a:schemeClr val="tx1"/>
                </a:solidFill>
              </a:rPr>
              <a:t>Pick any start vertex</a:t>
            </a:r>
            <a:endParaRPr lang="en-US" sz="1800" dirty="0"/>
          </a:p>
          <a:p>
            <a:pPr indent="0" marL="0">
              <a:buNone/>
            </a:pPr>
            <a:r>
              <a:rPr lang="en-US" sz="1500" dirty="0">
                <a:solidFill>
                  <a:schemeClr val="tx1"/>
                </a:solidFill>
              </a:rPr>
              <a:t>Add it to the tree.</a:t>
            </a:r>
            <a:endParaRPr lang="en-US" sz="1800" dirty="0"/>
          </a:p>
        </p:txBody>
      </p:sp>
      <p:sp>
        <p:nvSpPr>
          <p:cNvPr id="8" name="Shape 5"/>
          <p:cNvSpPr/>
          <p:nvPr/>
        </p:nvSpPr>
        <p:spPr>
          <a:xfrm>
            <a:off x="548640" y="2560320"/>
            <a:ext cx="5669280" cy="960120"/>
          </a:xfrm>
          <a:prstGeom prst="roundRect">
            <a:avLst>
              <a:gd name="adj" fmla="val 11429"/>
            </a:avLst>
          </a:prstGeom>
          <a:solidFill>
            <a:schemeClr val="bg2"/>
          </a:solidFill>
          <a:ln/>
        </p:spPr>
      </p:sp>
      <p:sp>
        <p:nvSpPr>
          <p:cNvPr id="9" name="Shape 6"/>
          <p:cNvSpPr/>
          <p:nvPr/>
        </p:nvSpPr>
        <p:spPr>
          <a:xfrm>
            <a:off x="731520" y="2743200"/>
            <a:ext cx="594360" cy="594360"/>
          </a:xfrm>
          <a:prstGeom prst="ellipse">
            <a:avLst/>
          </a:prstGeom>
          <a:solidFill>
            <a:schemeClr val="accent6"/>
          </a:solidFill>
          <a:ln/>
        </p:spPr>
      </p:sp>
      <p:sp>
        <p:nvSpPr>
          <p:cNvPr id="10" name="Text 7"/>
          <p:cNvSpPr txBox="1"/>
          <p:nvPr/>
        </p:nvSpPr>
        <p:spPr>
          <a:xfrm>
            <a:off x="731520" y="274320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1" name="Text 8"/>
          <p:cNvSpPr txBox="1"/>
          <p:nvPr/>
        </p:nvSpPr>
        <p:spPr>
          <a:xfrm>
            <a:off x="1554480" y="2560320"/>
            <a:ext cx="4480560" cy="960120"/>
          </a:xfrm>
          <a:prstGeom prst="rect">
            <a:avLst/>
          </a:prstGeom>
          <a:noFill/>
          <a:ln/>
        </p:spPr>
        <p:txBody>
          <a:bodyPr wrap="square" lIns="0" tIns="0" rIns="0" bIns="0" rtlCol="0" anchor="ctr"/>
          <a:lstStyle/>
          <a:p>
            <a:pPr indent="0" marL="0">
              <a:buNone/>
            </a:pPr>
            <a:r>
              <a:rPr lang="en-US" sz="1800" b="1" dirty="0">
                <a:solidFill>
                  <a:schemeClr val="tx1"/>
                </a:solidFill>
              </a:rPr>
              <a:t>Scan the frontier</a:t>
            </a:r>
            <a:endParaRPr lang="en-US" sz="1800" dirty="0"/>
          </a:p>
          <a:p>
            <a:pPr indent="0" marL="0">
              <a:buNone/>
            </a:pPr>
            <a:r>
              <a:rPr lang="en-US" sz="1500" dirty="0">
                <a:solidFill>
                  <a:schemeClr val="tx1"/>
                </a:solidFill>
              </a:rPr>
              <a:t>Look at every edge joining the tree to a non-tree vertex.</a:t>
            </a:r>
            <a:endParaRPr lang="en-US" sz="1800" dirty="0"/>
          </a:p>
        </p:txBody>
      </p:sp>
      <p:sp>
        <p:nvSpPr>
          <p:cNvPr id="12" name="Shape 9"/>
          <p:cNvSpPr/>
          <p:nvPr/>
        </p:nvSpPr>
        <p:spPr>
          <a:xfrm>
            <a:off x="548640" y="3657600"/>
            <a:ext cx="5669280" cy="960120"/>
          </a:xfrm>
          <a:prstGeom prst="roundRect">
            <a:avLst>
              <a:gd name="adj" fmla="val 11429"/>
            </a:avLst>
          </a:prstGeom>
          <a:solidFill>
            <a:schemeClr val="bg2"/>
          </a:solidFill>
          <a:ln/>
        </p:spPr>
      </p:sp>
      <p:sp>
        <p:nvSpPr>
          <p:cNvPr id="13" name="Shape 10"/>
          <p:cNvSpPr/>
          <p:nvPr/>
        </p:nvSpPr>
        <p:spPr>
          <a:xfrm>
            <a:off x="731520" y="3840480"/>
            <a:ext cx="594360" cy="594360"/>
          </a:xfrm>
          <a:prstGeom prst="ellipse">
            <a:avLst/>
          </a:prstGeom>
          <a:solidFill>
            <a:schemeClr val="accent6"/>
          </a:solidFill>
          <a:ln/>
        </p:spPr>
      </p:sp>
      <p:sp>
        <p:nvSpPr>
          <p:cNvPr id="14" name="Text 11"/>
          <p:cNvSpPr txBox="1"/>
          <p:nvPr/>
        </p:nvSpPr>
        <p:spPr>
          <a:xfrm>
            <a:off x="731520" y="384048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5" name="Text 12"/>
          <p:cNvSpPr txBox="1"/>
          <p:nvPr/>
        </p:nvSpPr>
        <p:spPr>
          <a:xfrm>
            <a:off x="1554480" y="3657600"/>
            <a:ext cx="4480560" cy="960120"/>
          </a:xfrm>
          <a:prstGeom prst="rect">
            <a:avLst/>
          </a:prstGeom>
          <a:noFill/>
          <a:ln/>
        </p:spPr>
        <p:txBody>
          <a:bodyPr wrap="square" lIns="0" tIns="0" rIns="0" bIns="0" rtlCol="0" anchor="ctr"/>
          <a:lstStyle/>
          <a:p>
            <a:pPr indent="0" marL="0">
              <a:buNone/>
            </a:pPr>
            <a:r>
              <a:rPr lang="en-US" sz="1800" b="1" dirty="0">
                <a:solidFill>
                  <a:schemeClr val="tx1"/>
                </a:solidFill>
              </a:rPr>
              <a:t>Take the cheapest</a:t>
            </a:r>
            <a:endParaRPr lang="en-US" sz="1800" dirty="0"/>
          </a:p>
          <a:p>
            <a:pPr indent="0" marL="0">
              <a:buNone/>
            </a:pPr>
            <a:r>
              <a:rPr lang="en-US" sz="1500" dirty="0">
                <a:solidFill>
                  <a:schemeClr val="tx1"/>
                </a:solidFill>
              </a:rPr>
              <a:t>Add that edge and its new vertex to the tree.</a:t>
            </a:r>
            <a:endParaRPr lang="en-US" sz="1800" dirty="0"/>
          </a:p>
        </p:txBody>
      </p:sp>
      <p:sp>
        <p:nvSpPr>
          <p:cNvPr id="16" name="Shape 13"/>
          <p:cNvSpPr/>
          <p:nvPr/>
        </p:nvSpPr>
        <p:spPr>
          <a:xfrm>
            <a:off x="548640" y="4754880"/>
            <a:ext cx="5669280" cy="960120"/>
          </a:xfrm>
          <a:prstGeom prst="roundRect">
            <a:avLst>
              <a:gd name="adj" fmla="val 11429"/>
            </a:avLst>
          </a:prstGeom>
          <a:solidFill>
            <a:schemeClr val="bg2"/>
          </a:solidFill>
          <a:ln/>
        </p:spPr>
      </p:sp>
      <p:sp>
        <p:nvSpPr>
          <p:cNvPr id="17" name="Shape 14"/>
          <p:cNvSpPr/>
          <p:nvPr/>
        </p:nvSpPr>
        <p:spPr>
          <a:xfrm>
            <a:off x="731520" y="4937760"/>
            <a:ext cx="594360" cy="594360"/>
          </a:xfrm>
          <a:prstGeom prst="ellipse">
            <a:avLst/>
          </a:prstGeom>
          <a:solidFill>
            <a:schemeClr val="accent6"/>
          </a:solidFill>
          <a:ln/>
        </p:spPr>
      </p:sp>
      <p:sp>
        <p:nvSpPr>
          <p:cNvPr id="18" name="Text 15"/>
          <p:cNvSpPr txBox="1"/>
          <p:nvPr/>
        </p:nvSpPr>
        <p:spPr>
          <a:xfrm>
            <a:off x="731520" y="493776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9" name="Text 16"/>
          <p:cNvSpPr txBox="1"/>
          <p:nvPr/>
        </p:nvSpPr>
        <p:spPr>
          <a:xfrm>
            <a:off x="1554480" y="4754880"/>
            <a:ext cx="4480560" cy="960120"/>
          </a:xfrm>
          <a:prstGeom prst="rect">
            <a:avLst/>
          </a:prstGeom>
          <a:noFill/>
          <a:ln/>
        </p:spPr>
        <p:txBody>
          <a:bodyPr wrap="square" lIns="0" tIns="0" rIns="0" bIns="0" rtlCol="0" anchor="ctr"/>
          <a:lstStyle/>
          <a:p>
            <a:pPr indent="0" marL="0">
              <a:buNone/>
            </a:pPr>
            <a:r>
              <a:rPr lang="en-US" sz="1800" b="1" dirty="0">
                <a:solidFill>
                  <a:schemeClr val="tx1"/>
                </a:solidFill>
              </a:rPr>
              <a:t>Repeat</a:t>
            </a:r>
            <a:endParaRPr lang="en-US" sz="1800" dirty="0"/>
          </a:p>
          <a:p>
            <a:pPr indent="0" marL="0">
              <a:buNone/>
            </a:pPr>
            <a:r>
              <a:rPr lang="en-US" sz="1500" dirty="0">
                <a:solidFill>
                  <a:schemeClr val="tx1"/>
                </a:solidFill>
              </a:rPr>
              <a:t>Stop when all V vertices are in the tree.</a:t>
            </a:r>
            <a:endParaRPr lang="en-US" sz="1800" dirty="0"/>
          </a:p>
        </p:txBody>
      </p:sp>
      <p:sp>
        <p:nvSpPr>
          <p:cNvPr id="20" name="Shape 17"/>
          <p:cNvSpPr/>
          <p:nvPr/>
        </p:nvSpPr>
        <p:spPr>
          <a:xfrm>
            <a:off x="6675120" y="1463040"/>
            <a:ext cx="4937760" cy="4251960"/>
          </a:xfrm>
          <a:prstGeom prst="roundRect">
            <a:avLst>
              <a:gd name="adj" fmla="val 2581"/>
            </a:avLst>
          </a:prstGeom>
          <a:solidFill>
            <a:schemeClr val="bg2"/>
          </a:solidFill>
          <a:ln/>
        </p:spPr>
      </p:sp>
      <p:sp>
        <p:nvSpPr>
          <p:cNvPr id="21" name="Text 18"/>
          <p:cNvSpPr txBox="1"/>
          <p:nvPr/>
        </p:nvSpPr>
        <p:spPr>
          <a:xfrm>
            <a:off x="6949440" y="1645920"/>
            <a:ext cx="4389120" cy="365760"/>
          </a:xfrm>
          <a:prstGeom prst="rect">
            <a:avLst/>
          </a:prstGeom>
          <a:noFill/>
          <a:ln/>
        </p:spPr>
        <p:txBody>
          <a:bodyPr wrap="square" lIns="0" tIns="0" rIns="0" bIns="0" rtlCol="0" anchor="t"/>
          <a:lstStyle/>
          <a:p>
            <a:pPr indent="0" marL="0">
              <a:buNone/>
            </a:pPr>
            <a:r>
              <a:rPr lang="en-US" sz="1800" b="1" dirty="0">
                <a:solidFill>
                  <a:schemeClr val="tx1"/>
                </a:solidFill>
              </a:rPr>
              <a:t>Snapshot: tree = {A, B, C}</a:t>
            </a:r>
            <a:endParaRPr lang="en-US" sz="1800" dirty="0"/>
          </a:p>
        </p:txBody>
      </p:sp>
      <p:sp>
        <p:nvSpPr>
          <p:cNvPr id="22" name="Shape 19"/>
          <p:cNvSpPr/>
          <p:nvPr/>
        </p:nvSpPr>
        <p:spPr>
          <a:xfrm flipV="1">
            <a:off x="7269480" y="2468880"/>
            <a:ext cx="1024128" cy="1024128"/>
          </a:xfrm>
          <a:prstGeom prst="line">
            <a:avLst/>
          </a:prstGeom>
          <a:noFill/>
          <a:ln w="19050">
            <a:solidFill>
              <a:srgbClr val="C9D6CC"/>
            </a:solidFill>
            <a:prstDash val="solid"/>
          </a:ln>
        </p:spPr>
      </p:sp>
      <p:sp>
        <p:nvSpPr>
          <p:cNvPr id="23" name="Shape 20"/>
          <p:cNvSpPr/>
          <p:nvPr/>
        </p:nvSpPr>
        <p:spPr>
          <a:xfrm>
            <a:off x="9932213" y="2468880"/>
            <a:ext cx="0" cy="2048256"/>
          </a:xfrm>
          <a:prstGeom prst="line">
            <a:avLst/>
          </a:prstGeom>
          <a:noFill/>
          <a:ln w="19050">
            <a:solidFill>
              <a:srgbClr val="C9D6CC"/>
            </a:solidFill>
            <a:prstDash val="solid"/>
          </a:ln>
        </p:spPr>
      </p:sp>
      <p:sp>
        <p:nvSpPr>
          <p:cNvPr id="24" name="Shape 21"/>
          <p:cNvSpPr/>
          <p:nvPr/>
        </p:nvSpPr>
        <p:spPr>
          <a:xfrm>
            <a:off x="9932213" y="2468880"/>
            <a:ext cx="1024128" cy="1024128"/>
          </a:xfrm>
          <a:prstGeom prst="line">
            <a:avLst/>
          </a:prstGeom>
          <a:noFill/>
          <a:ln w="19050">
            <a:solidFill>
              <a:srgbClr val="C9D6CC"/>
            </a:solidFill>
            <a:prstDash val="solid"/>
          </a:ln>
        </p:spPr>
      </p:sp>
      <p:sp>
        <p:nvSpPr>
          <p:cNvPr id="25" name="Shape 22"/>
          <p:cNvSpPr/>
          <p:nvPr/>
        </p:nvSpPr>
        <p:spPr>
          <a:xfrm flipV="1">
            <a:off x="9932213" y="3493008"/>
            <a:ext cx="1024128" cy="1024128"/>
          </a:xfrm>
          <a:prstGeom prst="line">
            <a:avLst/>
          </a:prstGeom>
          <a:noFill/>
          <a:ln w="19050">
            <a:solidFill>
              <a:srgbClr val="C9D6CC"/>
            </a:solidFill>
            <a:prstDash val="solid"/>
          </a:ln>
        </p:spPr>
      </p:sp>
      <p:sp>
        <p:nvSpPr>
          <p:cNvPr id="26" name="Shape 23"/>
          <p:cNvSpPr/>
          <p:nvPr/>
        </p:nvSpPr>
        <p:spPr>
          <a:xfrm>
            <a:off x="8293608" y="2468880"/>
            <a:ext cx="1638605" cy="0"/>
          </a:xfrm>
          <a:prstGeom prst="line">
            <a:avLst/>
          </a:prstGeom>
          <a:noFill/>
          <a:ln w="34925">
            <a:solidFill>
              <a:schemeClr val="accent2"/>
            </a:solidFill>
            <a:prstDash val="solid"/>
          </a:ln>
        </p:spPr>
      </p:sp>
      <p:sp>
        <p:nvSpPr>
          <p:cNvPr id="27" name="Shape 24"/>
          <p:cNvSpPr/>
          <p:nvPr/>
        </p:nvSpPr>
        <p:spPr>
          <a:xfrm flipV="1">
            <a:off x="8293608" y="2468880"/>
            <a:ext cx="1638605" cy="2048256"/>
          </a:xfrm>
          <a:prstGeom prst="line">
            <a:avLst/>
          </a:prstGeom>
          <a:noFill/>
          <a:ln w="34925">
            <a:solidFill>
              <a:schemeClr val="accent2"/>
            </a:solidFill>
            <a:prstDash val="solid"/>
          </a:ln>
        </p:spPr>
      </p:sp>
      <p:sp>
        <p:nvSpPr>
          <p:cNvPr id="28" name="Shape 25"/>
          <p:cNvSpPr/>
          <p:nvPr/>
        </p:nvSpPr>
        <p:spPr>
          <a:xfrm>
            <a:off x="8293608" y="4517136"/>
            <a:ext cx="1638605" cy="0"/>
          </a:xfrm>
          <a:prstGeom prst="line">
            <a:avLst/>
          </a:prstGeom>
          <a:noFill/>
          <a:ln w="34925">
            <a:solidFill>
              <a:schemeClr val="accent2"/>
            </a:solidFill>
            <a:prstDash val="solid"/>
          </a:ln>
        </p:spPr>
      </p:sp>
      <p:sp>
        <p:nvSpPr>
          <p:cNvPr id="29" name="Shape 26"/>
          <p:cNvSpPr/>
          <p:nvPr/>
        </p:nvSpPr>
        <p:spPr>
          <a:xfrm>
            <a:off x="7269480" y="3493008"/>
            <a:ext cx="1024128" cy="1024128"/>
          </a:xfrm>
          <a:prstGeom prst="line">
            <a:avLst/>
          </a:prstGeom>
          <a:noFill/>
          <a:ln w="50800">
            <a:solidFill>
              <a:schemeClr val="accent1"/>
            </a:solidFill>
            <a:prstDash val="solid"/>
          </a:ln>
        </p:spPr>
      </p:sp>
      <p:sp>
        <p:nvSpPr>
          <p:cNvPr id="30" name="Shape 27"/>
          <p:cNvSpPr/>
          <p:nvPr/>
        </p:nvSpPr>
        <p:spPr>
          <a:xfrm>
            <a:off x="8293608" y="2468880"/>
            <a:ext cx="0" cy="2048256"/>
          </a:xfrm>
          <a:prstGeom prst="line">
            <a:avLst/>
          </a:prstGeom>
          <a:noFill/>
          <a:ln w="50800">
            <a:solidFill>
              <a:schemeClr val="accent1"/>
            </a:solidFill>
            <a:prstDash val="solid"/>
          </a:ln>
        </p:spPr>
      </p:sp>
      <p:sp>
        <p:nvSpPr>
          <p:cNvPr id="31" name="Shape 28"/>
          <p:cNvSpPr/>
          <p:nvPr/>
        </p:nvSpPr>
        <p:spPr>
          <a:xfrm>
            <a:off x="7644384" y="2852928"/>
            <a:ext cx="274320" cy="256032"/>
          </a:xfrm>
          <a:prstGeom prst="roundRect">
            <a:avLst>
              <a:gd name="adj" fmla="val 28571"/>
            </a:avLst>
          </a:prstGeom>
          <a:solidFill>
            <a:srgbClr val="FFFFFF"/>
          </a:solidFill>
          <a:ln w="12700">
            <a:solidFill>
              <a:srgbClr val="C9D6CC"/>
            </a:solidFill>
            <a:prstDash val="solid"/>
          </a:ln>
        </p:spPr>
      </p:sp>
      <p:sp>
        <p:nvSpPr>
          <p:cNvPr id="32" name="Text 29"/>
          <p:cNvSpPr txBox="1"/>
          <p:nvPr/>
        </p:nvSpPr>
        <p:spPr>
          <a:xfrm>
            <a:off x="7644384" y="2852928"/>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4</a:t>
            </a:r>
            <a:endParaRPr lang="en-US" sz="1100" dirty="0"/>
          </a:p>
        </p:txBody>
      </p:sp>
      <p:sp>
        <p:nvSpPr>
          <p:cNvPr id="33" name="Shape 30"/>
          <p:cNvSpPr/>
          <p:nvPr/>
        </p:nvSpPr>
        <p:spPr>
          <a:xfrm>
            <a:off x="9795053" y="3364992"/>
            <a:ext cx="274320" cy="256032"/>
          </a:xfrm>
          <a:prstGeom prst="roundRect">
            <a:avLst>
              <a:gd name="adj" fmla="val 28571"/>
            </a:avLst>
          </a:prstGeom>
          <a:solidFill>
            <a:srgbClr val="FFFFFF"/>
          </a:solidFill>
          <a:ln w="12700">
            <a:solidFill>
              <a:srgbClr val="C9D6CC"/>
            </a:solidFill>
            <a:prstDash val="solid"/>
          </a:ln>
        </p:spPr>
      </p:sp>
      <p:sp>
        <p:nvSpPr>
          <p:cNvPr id="34" name="Text 31"/>
          <p:cNvSpPr txBox="1"/>
          <p:nvPr/>
        </p:nvSpPr>
        <p:spPr>
          <a:xfrm>
            <a:off x="9795053" y="3364992"/>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2</a:t>
            </a:r>
            <a:endParaRPr lang="en-US" sz="1100" dirty="0"/>
          </a:p>
        </p:txBody>
      </p:sp>
      <p:sp>
        <p:nvSpPr>
          <p:cNvPr id="35" name="Shape 32"/>
          <p:cNvSpPr/>
          <p:nvPr/>
        </p:nvSpPr>
        <p:spPr>
          <a:xfrm>
            <a:off x="10307117" y="2852928"/>
            <a:ext cx="274320" cy="256032"/>
          </a:xfrm>
          <a:prstGeom prst="roundRect">
            <a:avLst>
              <a:gd name="adj" fmla="val 28571"/>
            </a:avLst>
          </a:prstGeom>
          <a:solidFill>
            <a:srgbClr val="FFFFFF"/>
          </a:solidFill>
          <a:ln w="12700">
            <a:solidFill>
              <a:srgbClr val="C9D6CC"/>
            </a:solidFill>
            <a:prstDash val="solid"/>
          </a:ln>
        </p:spPr>
      </p:sp>
      <p:sp>
        <p:nvSpPr>
          <p:cNvPr id="36" name="Text 33"/>
          <p:cNvSpPr txBox="1"/>
          <p:nvPr/>
        </p:nvSpPr>
        <p:spPr>
          <a:xfrm>
            <a:off x="10307117" y="2852928"/>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6</a:t>
            </a:r>
            <a:endParaRPr lang="en-US" sz="1100" dirty="0"/>
          </a:p>
        </p:txBody>
      </p:sp>
      <p:sp>
        <p:nvSpPr>
          <p:cNvPr id="37" name="Shape 34"/>
          <p:cNvSpPr/>
          <p:nvPr/>
        </p:nvSpPr>
        <p:spPr>
          <a:xfrm>
            <a:off x="10307117" y="3877056"/>
            <a:ext cx="274320" cy="256032"/>
          </a:xfrm>
          <a:prstGeom prst="roundRect">
            <a:avLst>
              <a:gd name="adj" fmla="val 28571"/>
            </a:avLst>
          </a:prstGeom>
          <a:solidFill>
            <a:srgbClr val="FFFFFF"/>
          </a:solidFill>
          <a:ln w="12700">
            <a:solidFill>
              <a:srgbClr val="C9D6CC"/>
            </a:solidFill>
            <a:prstDash val="solid"/>
          </a:ln>
        </p:spPr>
      </p:sp>
      <p:sp>
        <p:nvSpPr>
          <p:cNvPr id="38" name="Text 35"/>
          <p:cNvSpPr txBox="1"/>
          <p:nvPr/>
        </p:nvSpPr>
        <p:spPr>
          <a:xfrm>
            <a:off x="10307117" y="3877056"/>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3</a:t>
            </a:r>
            <a:endParaRPr lang="en-US" sz="1100" dirty="0"/>
          </a:p>
        </p:txBody>
      </p:sp>
      <p:sp>
        <p:nvSpPr>
          <p:cNvPr id="39" name="Shape 36"/>
          <p:cNvSpPr/>
          <p:nvPr/>
        </p:nvSpPr>
        <p:spPr>
          <a:xfrm>
            <a:off x="8975750" y="2340864"/>
            <a:ext cx="274320" cy="256032"/>
          </a:xfrm>
          <a:prstGeom prst="roundRect">
            <a:avLst>
              <a:gd name="adj" fmla="val 28571"/>
            </a:avLst>
          </a:prstGeom>
          <a:solidFill>
            <a:srgbClr val="FFFFFF"/>
          </a:solidFill>
          <a:ln w="12700">
            <a:solidFill>
              <a:schemeClr val="accent2"/>
            </a:solidFill>
            <a:prstDash val="solid"/>
          </a:ln>
        </p:spPr>
      </p:sp>
      <p:sp>
        <p:nvSpPr>
          <p:cNvPr id="40" name="Text 37"/>
          <p:cNvSpPr txBox="1"/>
          <p:nvPr/>
        </p:nvSpPr>
        <p:spPr>
          <a:xfrm>
            <a:off x="8975750" y="234086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5</a:t>
            </a:r>
            <a:endParaRPr lang="en-US" sz="1100" dirty="0"/>
          </a:p>
        </p:txBody>
      </p:sp>
      <p:sp>
        <p:nvSpPr>
          <p:cNvPr id="41" name="Shape 38"/>
          <p:cNvSpPr/>
          <p:nvPr/>
        </p:nvSpPr>
        <p:spPr>
          <a:xfrm>
            <a:off x="8975750" y="3364992"/>
            <a:ext cx="274320" cy="256032"/>
          </a:xfrm>
          <a:prstGeom prst="roundRect">
            <a:avLst>
              <a:gd name="adj" fmla="val 28571"/>
            </a:avLst>
          </a:prstGeom>
          <a:solidFill>
            <a:srgbClr val="FFFFFF"/>
          </a:solidFill>
          <a:ln w="12700">
            <a:solidFill>
              <a:schemeClr val="accent2"/>
            </a:solidFill>
            <a:prstDash val="solid"/>
          </a:ln>
        </p:spPr>
      </p:sp>
      <p:sp>
        <p:nvSpPr>
          <p:cNvPr id="42" name="Text 39"/>
          <p:cNvSpPr txBox="1"/>
          <p:nvPr/>
        </p:nvSpPr>
        <p:spPr>
          <a:xfrm>
            <a:off x="8975750" y="3364992"/>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8</a:t>
            </a:r>
            <a:endParaRPr lang="en-US" sz="1100" dirty="0"/>
          </a:p>
        </p:txBody>
      </p:sp>
      <p:sp>
        <p:nvSpPr>
          <p:cNvPr id="43" name="Shape 40"/>
          <p:cNvSpPr/>
          <p:nvPr/>
        </p:nvSpPr>
        <p:spPr>
          <a:xfrm>
            <a:off x="8930030" y="4389120"/>
            <a:ext cx="365760" cy="256032"/>
          </a:xfrm>
          <a:prstGeom prst="roundRect">
            <a:avLst>
              <a:gd name="adj" fmla="val 28571"/>
            </a:avLst>
          </a:prstGeom>
          <a:solidFill>
            <a:srgbClr val="FFFFFF"/>
          </a:solidFill>
          <a:ln w="12700">
            <a:solidFill>
              <a:schemeClr val="accent2"/>
            </a:solidFill>
            <a:prstDash val="solid"/>
          </a:ln>
        </p:spPr>
      </p:sp>
      <p:sp>
        <p:nvSpPr>
          <p:cNvPr id="44" name="Text 41"/>
          <p:cNvSpPr txBox="1"/>
          <p:nvPr/>
        </p:nvSpPr>
        <p:spPr>
          <a:xfrm>
            <a:off x="8930030" y="4389120"/>
            <a:ext cx="365760" cy="256032"/>
          </a:xfrm>
          <a:prstGeom prst="rect">
            <a:avLst/>
          </a:prstGeom>
          <a:noFill/>
          <a:ln/>
        </p:spPr>
        <p:txBody>
          <a:bodyPr wrap="square" lIns="0" tIns="0" rIns="0" bIns="0" rtlCol="0" anchor="ctr"/>
          <a:lstStyle/>
          <a:p>
            <a:pPr algn="ctr" indent="0" marL="0">
              <a:buNone/>
            </a:pPr>
            <a:r>
              <a:rPr lang="en-US" sz="1100" b="1" dirty="0">
                <a:solidFill>
                  <a:srgbClr val="2F6B4F"/>
                </a:solidFill>
              </a:rPr>
              <a:t>10</a:t>
            </a:r>
            <a:endParaRPr lang="en-US" sz="1100" dirty="0"/>
          </a:p>
        </p:txBody>
      </p:sp>
      <p:sp>
        <p:nvSpPr>
          <p:cNvPr id="45" name="Shape 42"/>
          <p:cNvSpPr/>
          <p:nvPr/>
        </p:nvSpPr>
        <p:spPr>
          <a:xfrm>
            <a:off x="7644384" y="3877056"/>
            <a:ext cx="274320" cy="256032"/>
          </a:xfrm>
          <a:prstGeom prst="roundRect">
            <a:avLst>
              <a:gd name="adj" fmla="val 28571"/>
            </a:avLst>
          </a:prstGeom>
          <a:solidFill>
            <a:schemeClr val="accent1"/>
          </a:solidFill>
          <a:ln w="12700">
            <a:solidFill>
              <a:schemeClr val="accent1"/>
            </a:solidFill>
            <a:prstDash val="solid"/>
          </a:ln>
        </p:spPr>
      </p:sp>
      <p:sp>
        <p:nvSpPr>
          <p:cNvPr id="46" name="Text 43"/>
          <p:cNvSpPr txBox="1"/>
          <p:nvPr/>
        </p:nvSpPr>
        <p:spPr>
          <a:xfrm>
            <a:off x="7644384" y="3877056"/>
            <a:ext cx="274320" cy="256032"/>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47" name="Shape 44"/>
          <p:cNvSpPr/>
          <p:nvPr/>
        </p:nvSpPr>
        <p:spPr>
          <a:xfrm>
            <a:off x="8156448" y="3364992"/>
            <a:ext cx="274320" cy="256032"/>
          </a:xfrm>
          <a:prstGeom prst="roundRect">
            <a:avLst>
              <a:gd name="adj" fmla="val 28571"/>
            </a:avLst>
          </a:prstGeom>
          <a:solidFill>
            <a:schemeClr val="accent1"/>
          </a:solidFill>
          <a:ln w="12700">
            <a:solidFill>
              <a:schemeClr val="accent1"/>
            </a:solidFill>
            <a:prstDash val="solid"/>
          </a:ln>
        </p:spPr>
      </p:sp>
      <p:sp>
        <p:nvSpPr>
          <p:cNvPr id="48" name="Text 45"/>
          <p:cNvSpPr txBox="1"/>
          <p:nvPr/>
        </p:nvSpPr>
        <p:spPr>
          <a:xfrm>
            <a:off x="8156448" y="3364992"/>
            <a:ext cx="274320" cy="256032"/>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49" name="Shape 46"/>
          <p:cNvSpPr/>
          <p:nvPr/>
        </p:nvSpPr>
        <p:spPr>
          <a:xfrm>
            <a:off x="7059168" y="3282696"/>
            <a:ext cx="420624" cy="420624"/>
          </a:xfrm>
          <a:prstGeom prst="ellipse">
            <a:avLst/>
          </a:prstGeom>
          <a:solidFill>
            <a:schemeClr val="accent1"/>
          </a:solidFill>
          <a:ln w="22225">
            <a:solidFill>
              <a:schemeClr val="accent1"/>
            </a:solidFill>
            <a:prstDash val="solid"/>
          </a:ln>
        </p:spPr>
      </p:sp>
      <p:sp>
        <p:nvSpPr>
          <p:cNvPr id="50" name="Text 47"/>
          <p:cNvSpPr txBox="1"/>
          <p:nvPr/>
        </p:nvSpPr>
        <p:spPr>
          <a:xfrm>
            <a:off x="7059168" y="328269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51" name="Shape 48"/>
          <p:cNvSpPr/>
          <p:nvPr/>
        </p:nvSpPr>
        <p:spPr>
          <a:xfrm>
            <a:off x="8083296" y="2258568"/>
            <a:ext cx="420624" cy="420624"/>
          </a:xfrm>
          <a:prstGeom prst="ellipse">
            <a:avLst/>
          </a:prstGeom>
          <a:solidFill>
            <a:schemeClr val="accent1"/>
          </a:solidFill>
          <a:ln w="22225">
            <a:solidFill>
              <a:schemeClr val="accent1"/>
            </a:solidFill>
            <a:prstDash val="solid"/>
          </a:ln>
        </p:spPr>
      </p:sp>
      <p:sp>
        <p:nvSpPr>
          <p:cNvPr id="52" name="Text 49"/>
          <p:cNvSpPr txBox="1"/>
          <p:nvPr/>
        </p:nvSpPr>
        <p:spPr>
          <a:xfrm>
            <a:off x="8083296" y="225856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53" name="Shape 50"/>
          <p:cNvSpPr/>
          <p:nvPr/>
        </p:nvSpPr>
        <p:spPr>
          <a:xfrm>
            <a:off x="8083296" y="4306824"/>
            <a:ext cx="420624" cy="420624"/>
          </a:xfrm>
          <a:prstGeom prst="ellipse">
            <a:avLst/>
          </a:prstGeom>
          <a:solidFill>
            <a:schemeClr val="accent1"/>
          </a:solidFill>
          <a:ln w="22225">
            <a:solidFill>
              <a:schemeClr val="accent1"/>
            </a:solidFill>
            <a:prstDash val="solid"/>
          </a:ln>
        </p:spPr>
      </p:sp>
      <p:sp>
        <p:nvSpPr>
          <p:cNvPr id="54" name="Text 51"/>
          <p:cNvSpPr txBox="1"/>
          <p:nvPr/>
        </p:nvSpPr>
        <p:spPr>
          <a:xfrm>
            <a:off x="8083296" y="43068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55" name="Shape 52"/>
          <p:cNvSpPr/>
          <p:nvPr/>
        </p:nvSpPr>
        <p:spPr>
          <a:xfrm>
            <a:off x="9721901" y="2258568"/>
            <a:ext cx="420624" cy="420624"/>
          </a:xfrm>
          <a:prstGeom prst="ellipse">
            <a:avLst/>
          </a:prstGeom>
          <a:solidFill>
            <a:srgbClr val="FFFFFF"/>
          </a:solidFill>
          <a:ln w="22225">
            <a:solidFill>
              <a:srgbClr val="2F6B4F"/>
            </a:solidFill>
            <a:prstDash val="solid"/>
          </a:ln>
        </p:spPr>
      </p:sp>
      <p:sp>
        <p:nvSpPr>
          <p:cNvPr id="56" name="Text 53"/>
          <p:cNvSpPr txBox="1"/>
          <p:nvPr/>
        </p:nvSpPr>
        <p:spPr>
          <a:xfrm>
            <a:off x="9721901" y="2258568"/>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D</a:t>
            </a:r>
            <a:endParaRPr lang="en-US" sz="1400" dirty="0"/>
          </a:p>
        </p:txBody>
      </p:sp>
      <p:sp>
        <p:nvSpPr>
          <p:cNvPr id="57" name="Shape 54"/>
          <p:cNvSpPr/>
          <p:nvPr/>
        </p:nvSpPr>
        <p:spPr>
          <a:xfrm>
            <a:off x="9721901" y="4306824"/>
            <a:ext cx="420624" cy="420624"/>
          </a:xfrm>
          <a:prstGeom prst="ellipse">
            <a:avLst/>
          </a:prstGeom>
          <a:solidFill>
            <a:srgbClr val="FFFFFF"/>
          </a:solidFill>
          <a:ln w="22225">
            <a:solidFill>
              <a:srgbClr val="2F6B4F"/>
            </a:solidFill>
            <a:prstDash val="solid"/>
          </a:ln>
        </p:spPr>
      </p:sp>
      <p:sp>
        <p:nvSpPr>
          <p:cNvPr id="58" name="Text 55"/>
          <p:cNvSpPr txBox="1"/>
          <p:nvPr/>
        </p:nvSpPr>
        <p:spPr>
          <a:xfrm>
            <a:off x="9721901" y="4306824"/>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E</a:t>
            </a:r>
            <a:endParaRPr lang="en-US" sz="1400" dirty="0"/>
          </a:p>
        </p:txBody>
      </p:sp>
      <p:sp>
        <p:nvSpPr>
          <p:cNvPr id="59" name="Shape 56"/>
          <p:cNvSpPr/>
          <p:nvPr/>
        </p:nvSpPr>
        <p:spPr>
          <a:xfrm>
            <a:off x="10746029" y="3282696"/>
            <a:ext cx="420624" cy="420624"/>
          </a:xfrm>
          <a:prstGeom prst="ellipse">
            <a:avLst/>
          </a:prstGeom>
          <a:solidFill>
            <a:srgbClr val="FFFFFF"/>
          </a:solidFill>
          <a:ln w="22225">
            <a:solidFill>
              <a:srgbClr val="2F6B4F"/>
            </a:solidFill>
            <a:prstDash val="solid"/>
          </a:ln>
        </p:spPr>
      </p:sp>
      <p:sp>
        <p:nvSpPr>
          <p:cNvPr id="60" name="Text 57"/>
          <p:cNvSpPr txBox="1"/>
          <p:nvPr/>
        </p:nvSpPr>
        <p:spPr>
          <a:xfrm>
            <a:off x="10746029" y="3282696"/>
            <a:ext cx="420624" cy="420624"/>
          </a:xfrm>
          <a:prstGeom prst="rect">
            <a:avLst/>
          </a:prstGeom>
          <a:noFill/>
          <a:ln/>
        </p:spPr>
        <p:txBody>
          <a:bodyPr wrap="square" lIns="0" tIns="0" rIns="0" bIns="0" rtlCol="0" anchor="ctr"/>
          <a:lstStyle/>
          <a:p>
            <a:pPr algn="ctr" indent="0" marL="0">
              <a:buNone/>
            </a:pPr>
            <a:r>
              <a:rPr lang="en-US" sz="1400" b="1" dirty="0">
                <a:solidFill>
                  <a:srgbClr val="1E3D2F"/>
                </a:solidFill>
              </a:rPr>
              <a:t>F</a:t>
            </a:r>
            <a:endParaRPr lang="en-US" sz="1400" dirty="0"/>
          </a:p>
        </p:txBody>
      </p:sp>
      <p:sp>
        <p:nvSpPr>
          <p:cNvPr id="61" name="Shape 58"/>
          <p:cNvSpPr/>
          <p:nvPr/>
        </p:nvSpPr>
        <p:spPr>
          <a:xfrm>
            <a:off x="6949440" y="4791456"/>
            <a:ext cx="146304" cy="146304"/>
          </a:xfrm>
          <a:prstGeom prst="ellipse">
            <a:avLst/>
          </a:prstGeom>
          <a:solidFill>
            <a:schemeClr val="accent1"/>
          </a:solidFill>
          <a:ln/>
        </p:spPr>
      </p:sp>
      <p:sp>
        <p:nvSpPr>
          <p:cNvPr id="62" name="Text 59"/>
          <p:cNvSpPr txBox="1"/>
          <p:nvPr/>
        </p:nvSpPr>
        <p:spPr>
          <a:xfrm>
            <a:off x="7178040" y="4754880"/>
            <a:ext cx="2011680" cy="228600"/>
          </a:xfrm>
          <a:prstGeom prst="rect">
            <a:avLst/>
          </a:prstGeom>
          <a:noFill/>
          <a:ln/>
        </p:spPr>
        <p:txBody>
          <a:bodyPr wrap="square" lIns="0" tIns="0" rIns="0" bIns="0" rtlCol="0" anchor="ctr"/>
          <a:lstStyle/>
          <a:p>
            <a:pPr indent="0" marL="0">
              <a:buNone/>
            </a:pPr>
            <a:r>
              <a:rPr lang="en-US" sz="1200" dirty="0">
                <a:solidFill>
                  <a:schemeClr val="tx2"/>
                </a:solidFill>
              </a:rPr>
              <a:t>In the tree</a:t>
            </a:r>
            <a:endParaRPr lang="en-US" sz="1200" dirty="0"/>
          </a:p>
        </p:txBody>
      </p:sp>
      <p:sp>
        <p:nvSpPr>
          <p:cNvPr id="63" name="Shape 60"/>
          <p:cNvSpPr/>
          <p:nvPr/>
        </p:nvSpPr>
        <p:spPr>
          <a:xfrm>
            <a:off x="8549640" y="4791456"/>
            <a:ext cx="146304" cy="146304"/>
          </a:xfrm>
          <a:prstGeom prst="ellipse">
            <a:avLst/>
          </a:prstGeom>
          <a:solidFill>
            <a:schemeClr val="accent2"/>
          </a:solidFill>
          <a:ln/>
        </p:spPr>
      </p:sp>
      <p:sp>
        <p:nvSpPr>
          <p:cNvPr id="64" name="Text 61"/>
          <p:cNvSpPr txBox="1"/>
          <p:nvPr/>
        </p:nvSpPr>
        <p:spPr>
          <a:xfrm>
            <a:off x="8778240" y="4754880"/>
            <a:ext cx="2011680" cy="228600"/>
          </a:xfrm>
          <a:prstGeom prst="rect">
            <a:avLst/>
          </a:prstGeom>
          <a:noFill/>
          <a:ln/>
        </p:spPr>
        <p:txBody>
          <a:bodyPr wrap="square" lIns="0" tIns="0" rIns="0" bIns="0" rtlCol="0" anchor="ctr"/>
          <a:lstStyle/>
          <a:p>
            <a:pPr indent="0" marL="0">
              <a:buNone/>
            </a:pPr>
            <a:r>
              <a:rPr lang="en-US" sz="1200" dirty="0">
                <a:solidFill>
                  <a:schemeClr val="tx2"/>
                </a:solidFill>
              </a:rPr>
              <a:t>Frontier edges</a:t>
            </a:r>
            <a:endParaRPr lang="en-US" sz="1200" dirty="0"/>
          </a:p>
        </p:txBody>
      </p:sp>
      <p:sp>
        <p:nvSpPr>
          <p:cNvPr id="65" name="Text 62"/>
          <p:cNvSpPr txBox="1"/>
          <p:nvPr/>
        </p:nvSpPr>
        <p:spPr>
          <a:xfrm>
            <a:off x="6949440" y="5166360"/>
            <a:ext cx="4389120" cy="365760"/>
          </a:xfrm>
          <a:prstGeom prst="rect">
            <a:avLst/>
          </a:prstGeom>
          <a:noFill/>
          <a:ln/>
        </p:spPr>
        <p:txBody>
          <a:bodyPr wrap="square" lIns="0" tIns="0" rIns="0" bIns="0" rtlCol="0" anchor="t"/>
          <a:lstStyle/>
          <a:p>
            <a:pPr indent="0" marL="0">
              <a:buNone/>
            </a:pPr>
            <a:r>
              <a:rPr lang="en-US" sz="1600" b="1" dirty="0">
                <a:solidFill>
                  <a:srgbClr val="B45309"/>
                </a:solidFill>
              </a:rPr>
              <a:t>Cheapest crossing edge: B–D (5)</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B5A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Step-by-Step Walkthrough (start at A)</a:t>
            </a:r>
            <a:endParaRPr lang="en-US" sz="3600" dirty="0"/>
          </a:p>
        </p:txBody>
      </p:sp>
      <p:sp>
        <p:nvSpPr>
          <p:cNvPr id="4" name="Shape 1"/>
          <p:cNvSpPr/>
          <p:nvPr/>
        </p:nvSpPr>
        <p:spPr>
          <a:xfrm flipV="1">
            <a:off x="914400" y="1828800"/>
            <a:ext cx="1051560" cy="1051560"/>
          </a:xfrm>
          <a:prstGeom prst="line">
            <a:avLst/>
          </a:prstGeom>
          <a:noFill/>
          <a:ln w="19050">
            <a:solidFill>
              <a:srgbClr val="C9D6CC"/>
            </a:solidFill>
            <a:prstDash val="solid"/>
          </a:ln>
        </p:spPr>
      </p:sp>
      <p:sp>
        <p:nvSpPr>
          <p:cNvPr id="5" name="Shape 2"/>
          <p:cNvSpPr/>
          <p:nvPr/>
        </p:nvSpPr>
        <p:spPr>
          <a:xfrm flipV="1">
            <a:off x="1965960" y="1828800"/>
            <a:ext cx="1682496" cy="2103120"/>
          </a:xfrm>
          <a:prstGeom prst="line">
            <a:avLst/>
          </a:prstGeom>
          <a:noFill/>
          <a:ln w="19050">
            <a:solidFill>
              <a:srgbClr val="C9D6CC"/>
            </a:solidFill>
            <a:prstDash val="solid"/>
          </a:ln>
        </p:spPr>
      </p:sp>
      <p:sp>
        <p:nvSpPr>
          <p:cNvPr id="6" name="Shape 3"/>
          <p:cNvSpPr/>
          <p:nvPr/>
        </p:nvSpPr>
        <p:spPr>
          <a:xfrm>
            <a:off x="1965960" y="3931920"/>
            <a:ext cx="1682496" cy="0"/>
          </a:xfrm>
          <a:prstGeom prst="line">
            <a:avLst/>
          </a:prstGeom>
          <a:noFill/>
          <a:ln w="19050">
            <a:solidFill>
              <a:srgbClr val="C9D6CC"/>
            </a:solidFill>
            <a:prstDash val="solid"/>
          </a:ln>
        </p:spPr>
      </p:sp>
      <p:sp>
        <p:nvSpPr>
          <p:cNvPr id="7" name="Shape 4"/>
          <p:cNvSpPr/>
          <p:nvPr/>
        </p:nvSpPr>
        <p:spPr>
          <a:xfrm>
            <a:off x="3648456" y="1828800"/>
            <a:ext cx="1051560" cy="1051560"/>
          </a:xfrm>
          <a:prstGeom prst="line">
            <a:avLst/>
          </a:prstGeom>
          <a:noFill/>
          <a:ln w="19050">
            <a:solidFill>
              <a:srgbClr val="C9D6CC"/>
            </a:solidFill>
            <a:prstDash val="solid"/>
          </a:ln>
        </p:spPr>
      </p:sp>
      <p:sp>
        <p:nvSpPr>
          <p:cNvPr id="8" name="Shape 5"/>
          <p:cNvSpPr/>
          <p:nvPr/>
        </p:nvSpPr>
        <p:spPr>
          <a:xfrm>
            <a:off x="914400" y="2880360"/>
            <a:ext cx="1051560" cy="1051560"/>
          </a:xfrm>
          <a:prstGeom prst="line">
            <a:avLst/>
          </a:prstGeom>
          <a:noFill/>
          <a:ln w="50800">
            <a:solidFill>
              <a:schemeClr val="accent1"/>
            </a:solidFill>
            <a:prstDash val="solid"/>
          </a:ln>
        </p:spPr>
      </p:sp>
      <p:sp>
        <p:nvSpPr>
          <p:cNvPr id="9" name="Shape 6"/>
          <p:cNvSpPr/>
          <p:nvPr/>
        </p:nvSpPr>
        <p:spPr>
          <a:xfrm>
            <a:off x="1965960" y="1828800"/>
            <a:ext cx="0" cy="2103120"/>
          </a:xfrm>
          <a:prstGeom prst="line">
            <a:avLst/>
          </a:prstGeom>
          <a:noFill/>
          <a:ln w="50800">
            <a:solidFill>
              <a:schemeClr val="accent1"/>
            </a:solidFill>
            <a:prstDash val="solid"/>
          </a:ln>
        </p:spPr>
      </p:sp>
      <p:sp>
        <p:nvSpPr>
          <p:cNvPr id="10" name="Shape 7"/>
          <p:cNvSpPr/>
          <p:nvPr/>
        </p:nvSpPr>
        <p:spPr>
          <a:xfrm>
            <a:off x="1965960" y="1828800"/>
            <a:ext cx="1682496" cy="0"/>
          </a:xfrm>
          <a:prstGeom prst="line">
            <a:avLst/>
          </a:prstGeom>
          <a:noFill/>
          <a:ln w="50800">
            <a:solidFill>
              <a:schemeClr val="accent1"/>
            </a:solidFill>
            <a:prstDash val="solid"/>
          </a:ln>
        </p:spPr>
      </p:sp>
      <p:sp>
        <p:nvSpPr>
          <p:cNvPr id="11" name="Shape 8"/>
          <p:cNvSpPr/>
          <p:nvPr/>
        </p:nvSpPr>
        <p:spPr>
          <a:xfrm>
            <a:off x="3648456" y="1828800"/>
            <a:ext cx="0" cy="2103120"/>
          </a:xfrm>
          <a:prstGeom prst="line">
            <a:avLst/>
          </a:prstGeom>
          <a:noFill/>
          <a:ln w="50800">
            <a:solidFill>
              <a:schemeClr val="accent1"/>
            </a:solidFill>
            <a:prstDash val="solid"/>
          </a:ln>
        </p:spPr>
      </p:sp>
      <p:sp>
        <p:nvSpPr>
          <p:cNvPr id="12" name="Shape 9"/>
          <p:cNvSpPr/>
          <p:nvPr/>
        </p:nvSpPr>
        <p:spPr>
          <a:xfrm flipV="1">
            <a:off x="3648456" y="2880360"/>
            <a:ext cx="1051560" cy="1051560"/>
          </a:xfrm>
          <a:prstGeom prst="line">
            <a:avLst/>
          </a:prstGeom>
          <a:noFill/>
          <a:ln w="50800">
            <a:solidFill>
              <a:schemeClr val="accent1"/>
            </a:solidFill>
            <a:prstDash val="solid"/>
          </a:ln>
        </p:spPr>
      </p:sp>
      <p:sp>
        <p:nvSpPr>
          <p:cNvPr id="13" name="Shape 10"/>
          <p:cNvSpPr/>
          <p:nvPr/>
        </p:nvSpPr>
        <p:spPr>
          <a:xfrm>
            <a:off x="1303020" y="2226564"/>
            <a:ext cx="274320" cy="256032"/>
          </a:xfrm>
          <a:prstGeom prst="roundRect">
            <a:avLst>
              <a:gd name="adj" fmla="val 28571"/>
            </a:avLst>
          </a:prstGeom>
          <a:solidFill>
            <a:srgbClr val="FFFFFF"/>
          </a:solidFill>
          <a:ln w="12700">
            <a:solidFill>
              <a:srgbClr val="C9D6CC"/>
            </a:solidFill>
            <a:prstDash val="solid"/>
          </a:ln>
        </p:spPr>
      </p:sp>
      <p:sp>
        <p:nvSpPr>
          <p:cNvPr id="14" name="Text 11"/>
          <p:cNvSpPr txBox="1"/>
          <p:nvPr/>
        </p:nvSpPr>
        <p:spPr>
          <a:xfrm>
            <a:off x="1303020" y="222656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4</a:t>
            </a:r>
            <a:endParaRPr lang="en-US" sz="1100" dirty="0"/>
          </a:p>
        </p:txBody>
      </p:sp>
      <p:sp>
        <p:nvSpPr>
          <p:cNvPr id="15" name="Shape 12"/>
          <p:cNvSpPr/>
          <p:nvPr/>
        </p:nvSpPr>
        <p:spPr>
          <a:xfrm>
            <a:off x="2670048" y="2752344"/>
            <a:ext cx="274320" cy="256032"/>
          </a:xfrm>
          <a:prstGeom prst="roundRect">
            <a:avLst>
              <a:gd name="adj" fmla="val 28571"/>
            </a:avLst>
          </a:prstGeom>
          <a:solidFill>
            <a:srgbClr val="FFFFFF"/>
          </a:solidFill>
          <a:ln w="12700">
            <a:solidFill>
              <a:srgbClr val="C9D6CC"/>
            </a:solidFill>
            <a:prstDash val="solid"/>
          </a:ln>
        </p:spPr>
      </p:sp>
      <p:sp>
        <p:nvSpPr>
          <p:cNvPr id="16" name="Text 13"/>
          <p:cNvSpPr txBox="1"/>
          <p:nvPr/>
        </p:nvSpPr>
        <p:spPr>
          <a:xfrm>
            <a:off x="2670048" y="275234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8</a:t>
            </a:r>
            <a:endParaRPr lang="en-US" sz="1100" dirty="0"/>
          </a:p>
        </p:txBody>
      </p:sp>
      <p:sp>
        <p:nvSpPr>
          <p:cNvPr id="17" name="Shape 14"/>
          <p:cNvSpPr/>
          <p:nvPr/>
        </p:nvSpPr>
        <p:spPr>
          <a:xfrm>
            <a:off x="2624328" y="3803904"/>
            <a:ext cx="365760" cy="256032"/>
          </a:xfrm>
          <a:prstGeom prst="roundRect">
            <a:avLst>
              <a:gd name="adj" fmla="val 28571"/>
            </a:avLst>
          </a:prstGeom>
          <a:solidFill>
            <a:srgbClr val="FFFFFF"/>
          </a:solidFill>
          <a:ln w="12700">
            <a:solidFill>
              <a:srgbClr val="C9D6CC"/>
            </a:solidFill>
            <a:prstDash val="solid"/>
          </a:ln>
        </p:spPr>
      </p:sp>
      <p:sp>
        <p:nvSpPr>
          <p:cNvPr id="18" name="Text 15"/>
          <p:cNvSpPr txBox="1"/>
          <p:nvPr/>
        </p:nvSpPr>
        <p:spPr>
          <a:xfrm>
            <a:off x="2624328" y="3803904"/>
            <a:ext cx="365760" cy="256032"/>
          </a:xfrm>
          <a:prstGeom prst="rect">
            <a:avLst/>
          </a:prstGeom>
          <a:noFill/>
          <a:ln/>
        </p:spPr>
        <p:txBody>
          <a:bodyPr wrap="square" lIns="0" tIns="0" rIns="0" bIns="0" rtlCol="0" anchor="ctr"/>
          <a:lstStyle/>
          <a:p>
            <a:pPr algn="ctr" indent="0" marL="0">
              <a:buNone/>
            </a:pPr>
            <a:r>
              <a:rPr lang="en-US" sz="1100" b="1" dirty="0">
                <a:solidFill>
                  <a:srgbClr val="2F6B4F"/>
                </a:solidFill>
              </a:rPr>
              <a:t>10</a:t>
            </a:r>
            <a:endParaRPr lang="en-US" sz="1100" dirty="0"/>
          </a:p>
        </p:txBody>
      </p:sp>
      <p:sp>
        <p:nvSpPr>
          <p:cNvPr id="19" name="Shape 16"/>
          <p:cNvSpPr/>
          <p:nvPr/>
        </p:nvSpPr>
        <p:spPr>
          <a:xfrm>
            <a:off x="4037076" y="2226564"/>
            <a:ext cx="274320" cy="256032"/>
          </a:xfrm>
          <a:prstGeom prst="roundRect">
            <a:avLst>
              <a:gd name="adj" fmla="val 28571"/>
            </a:avLst>
          </a:prstGeom>
          <a:solidFill>
            <a:srgbClr val="FFFFFF"/>
          </a:solidFill>
          <a:ln w="12700">
            <a:solidFill>
              <a:srgbClr val="C9D6CC"/>
            </a:solidFill>
            <a:prstDash val="solid"/>
          </a:ln>
        </p:spPr>
      </p:sp>
      <p:sp>
        <p:nvSpPr>
          <p:cNvPr id="20" name="Text 17"/>
          <p:cNvSpPr txBox="1"/>
          <p:nvPr/>
        </p:nvSpPr>
        <p:spPr>
          <a:xfrm>
            <a:off x="4037076" y="2226564"/>
            <a:ext cx="274320" cy="256032"/>
          </a:xfrm>
          <a:prstGeom prst="rect">
            <a:avLst/>
          </a:prstGeom>
          <a:noFill/>
          <a:ln/>
        </p:spPr>
        <p:txBody>
          <a:bodyPr wrap="square" lIns="0" tIns="0" rIns="0" bIns="0" rtlCol="0" anchor="ctr"/>
          <a:lstStyle/>
          <a:p>
            <a:pPr algn="ctr" indent="0" marL="0">
              <a:buNone/>
            </a:pPr>
            <a:r>
              <a:rPr lang="en-US" sz="1100" b="1" dirty="0">
                <a:solidFill>
                  <a:srgbClr val="2F6B4F"/>
                </a:solidFill>
              </a:rPr>
              <a:t>6</a:t>
            </a:r>
            <a:endParaRPr lang="en-US" sz="1100" dirty="0"/>
          </a:p>
        </p:txBody>
      </p:sp>
      <p:sp>
        <p:nvSpPr>
          <p:cNvPr id="21" name="Shape 18"/>
          <p:cNvSpPr/>
          <p:nvPr/>
        </p:nvSpPr>
        <p:spPr>
          <a:xfrm>
            <a:off x="1211580" y="3278124"/>
            <a:ext cx="457200" cy="256032"/>
          </a:xfrm>
          <a:prstGeom prst="roundRect">
            <a:avLst>
              <a:gd name="adj" fmla="val 28571"/>
            </a:avLst>
          </a:prstGeom>
          <a:solidFill>
            <a:schemeClr val="accent1"/>
          </a:solidFill>
          <a:ln w="12700">
            <a:solidFill>
              <a:schemeClr val="accent1"/>
            </a:solidFill>
            <a:prstDash val="solid"/>
          </a:ln>
        </p:spPr>
      </p:sp>
      <p:sp>
        <p:nvSpPr>
          <p:cNvPr id="22" name="Text 19"/>
          <p:cNvSpPr txBox="1"/>
          <p:nvPr/>
        </p:nvSpPr>
        <p:spPr>
          <a:xfrm>
            <a:off x="1211580" y="3278124"/>
            <a:ext cx="457200" cy="256032"/>
          </a:xfrm>
          <a:prstGeom prst="rect">
            <a:avLst/>
          </a:prstGeom>
          <a:noFill/>
          <a:ln/>
        </p:spPr>
        <p:txBody>
          <a:bodyPr wrap="square" lIns="0" tIns="0" rIns="0" bIns="0" rtlCol="0" anchor="ctr"/>
          <a:lstStyle/>
          <a:p>
            <a:pPr algn="ctr" indent="0" marL="0">
              <a:buNone/>
            </a:pPr>
            <a:r>
              <a:rPr lang="en-US" sz="1100" b="1" dirty="0">
                <a:solidFill>
                  <a:schemeClr val="bg1"/>
                </a:solidFill>
              </a:rPr>
              <a:t>1·2</a:t>
            </a:r>
            <a:endParaRPr lang="en-US" sz="1100" dirty="0"/>
          </a:p>
        </p:txBody>
      </p:sp>
      <p:sp>
        <p:nvSpPr>
          <p:cNvPr id="23" name="Shape 20"/>
          <p:cNvSpPr/>
          <p:nvPr/>
        </p:nvSpPr>
        <p:spPr>
          <a:xfrm>
            <a:off x="1737360" y="2752344"/>
            <a:ext cx="457200" cy="256032"/>
          </a:xfrm>
          <a:prstGeom prst="roundRect">
            <a:avLst>
              <a:gd name="adj" fmla="val 28571"/>
            </a:avLst>
          </a:prstGeom>
          <a:solidFill>
            <a:schemeClr val="accent1"/>
          </a:solidFill>
          <a:ln w="12700">
            <a:solidFill>
              <a:schemeClr val="accent1"/>
            </a:solidFill>
            <a:prstDash val="solid"/>
          </a:ln>
        </p:spPr>
      </p:sp>
      <p:sp>
        <p:nvSpPr>
          <p:cNvPr id="24" name="Text 21"/>
          <p:cNvSpPr txBox="1"/>
          <p:nvPr/>
        </p:nvSpPr>
        <p:spPr>
          <a:xfrm>
            <a:off x="1737360" y="2752344"/>
            <a:ext cx="457200" cy="256032"/>
          </a:xfrm>
          <a:prstGeom prst="rect">
            <a:avLst/>
          </a:prstGeom>
          <a:noFill/>
          <a:ln/>
        </p:spPr>
        <p:txBody>
          <a:bodyPr wrap="square" lIns="0" tIns="0" rIns="0" bIns="0" rtlCol="0" anchor="ctr"/>
          <a:lstStyle/>
          <a:p>
            <a:pPr algn="ctr" indent="0" marL="0">
              <a:buNone/>
            </a:pPr>
            <a:r>
              <a:rPr lang="en-US" sz="1100" b="1" dirty="0">
                <a:solidFill>
                  <a:schemeClr val="bg1"/>
                </a:solidFill>
              </a:rPr>
              <a:t>2·1</a:t>
            </a:r>
            <a:endParaRPr lang="en-US" sz="1100" dirty="0"/>
          </a:p>
        </p:txBody>
      </p:sp>
      <p:sp>
        <p:nvSpPr>
          <p:cNvPr id="25" name="Shape 22"/>
          <p:cNvSpPr/>
          <p:nvPr/>
        </p:nvSpPr>
        <p:spPr>
          <a:xfrm>
            <a:off x="2578608" y="1700784"/>
            <a:ext cx="457200" cy="256032"/>
          </a:xfrm>
          <a:prstGeom prst="roundRect">
            <a:avLst>
              <a:gd name="adj" fmla="val 28571"/>
            </a:avLst>
          </a:prstGeom>
          <a:solidFill>
            <a:schemeClr val="accent1"/>
          </a:solidFill>
          <a:ln w="12700">
            <a:solidFill>
              <a:schemeClr val="accent1"/>
            </a:solidFill>
            <a:prstDash val="solid"/>
          </a:ln>
        </p:spPr>
      </p:sp>
      <p:sp>
        <p:nvSpPr>
          <p:cNvPr id="26" name="Text 23"/>
          <p:cNvSpPr txBox="1"/>
          <p:nvPr/>
        </p:nvSpPr>
        <p:spPr>
          <a:xfrm>
            <a:off x="2578608" y="1700784"/>
            <a:ext cx="457200" cy="256032"/>
          </a:xfrm>
          <a:prstGeom prst="rect">
            <a:avLst/>
          </a:prstGeom>
          <a:noFill/>
          <a:ln/>
        </p:spPr>
        <p:txBody>
          <a:bodyPr wrap="square" lIns="0" tIns="0" rIns="0" bIns="0" rtlCol="0" anchor="ctr"/>
          <a:lstStyle/>
          <a:p>
            <a:pPr algn="ctr" indent="0" marL="0">
              <a:buNone/>
            </a:pPr>
            <a:r>
              <a:rPr lang="en-US" sz="1100" b="1" dirty="0">
                <a:solidFill>
                  <a:schemeClr val="bg1"/>
                </a:solidFill>
              </a:rPr>
              <a:t>3·5</a:t>
            </a:r>
            <a:endParaRPr lang="en-US" sz="1100" dirty="0"/>
          </a:p>
        </p:txBody>
      </p:sp>
      <p:sp>
        <p:nvSpPr>
          <p:cNvPr id="27" name="Shape 24"/>
          <p:cNvSpPr/>
          <p:nvPr/>
        </p:nvSpPr>
        <p:spPr>
          <a:xfrm>
            <a:off x="3419856" y="2752344"/>
            <a:ext cx="457200" cy="256032"/>
          </a:xfrm>
          <a:prstGeom prst="roundRect">
            <a:avLst>
              <a:gd name="adj" fmla="val 28571"/>
            </a:avLst>
          </a:prstGeom>
          <a:solidFill>
            <a:schemeClr val="accent1"/>
          </a:solidFill>
          <a:ln w="12700">
            <a:solidFill>
              <a:schemeClr val="accent1"/>
            </a:solidFill>
            <a:prstDash val="solid"/>
          </a:ln>
        </p:spPr>
      </p:sp>
      <p:sp>
        <p:nvSpPr>
          <p:cNvPr id="28" name="Text 25"/>
          <p:cNvSpPr txBox="1"/>
          <p:nvPr/>
        </p:nvSpPr>
        <p:spPr>
          <a:xfrm>
            <a:off x="3419856" y="2752344"/>
            <a:ext cx="457200" cy="256032"/>
          </a:xfrm>
          <a:prstGeom prst="rect">
            <a:avLst/>
          </a:prstGeom>
          <a:noFill/>
          <a:ln/>
        </p:spPr>
        <p:txBody>
          <a:bodyPr wrap="square" lIns="0" tIns="0" rIns="0" bIns="0" rtlCol="0" anchor="ctr"/>
          <a:lstStyle/>
          <a:p>
            <a:pPr algn="ctr" indent="0" marL="0">
              <a:buNone/>
            </a:pPr>
            <a:r>
              <a:rPr lang="en-US" sz="1100" b="1" dirty="0">
                <a:solidFill>
                  <a:schemeClr val="bg1"/>
                </a:solidFill>
              </a:rPr>
              <a:t>4·2</a:t>
            </a:r>
            <a:endParaRPr lang="en-US" sz="1100" dirty="0"/>
          </a:p>
        </p:txBody>
      </p:sp>
      <p:sp>
        <p:nvSpPr>
          <p:cNvPr id="29" name="Shape 26"/>
          <p:cNvSpPr/>
          <p:nvPr/>
        </p:nvSpPr>
        <p:spPr>
          <a:xfrm>
            <a:off x="3945636" y="3278124"/>
            <a:ext cx="457200" cy="256032"/>
          </a:xfrm>
          <a:prstGeom prst="roundRect">
            <a:avLst>
              <a:gd name="adj" fmla="val 28571"/>
            </a:avLst>
          </a:prstGeom>
          <a:solidFill>
            <a:schemeClr val="accent1"/>
          </a:solidFill>
          <a:ln w="12700">
            <a:solidFill>
              <a:schemeClr val="accent1"/>
            </a:solidFill>
            <a:prstDash val="solid"/>
          </a:ln>
        </p:spPr>
      </p:sp>
      <p:sp>
        <p:nvSpPr>
          <p:cNvPr id="30" name="Text 27"/>
          <p:cNvSpPr txBox="1"/>
          <p:nvPr/>
        </p:nvSpPr>
        <p:spPr>
          <a:xfrm>
            <a:off x="3945636" y="3278124"/>
            <a:ext cx="457200" cy="256032"/>
          </a:xfrm>
          <a:prstGeom prst="rect">
            <a:avLst/>
          </a:prstGeom>
          <a:noFill/>
          <a:ln/>
        </p:spPr>
        <p:txBody>
          <a:bodyPr wrap="square" lIns="0" tIns="0" rIns="0" bIns="0" rtlCol="0" anchor="ctr"/>
          <a:lstStyle/>
          <a:p>
            <a:pPr algn="ctr" indent="0" marL="0">
              <a:buNone/>
            </a:pPr>
            <a:r>
              <a:rPr lang="en-US" sz="1100" b="1" dirty="0">
                <a:solidFill>
                  <a:schemeClr val="bg1"/>
                </a:solidFill>
              </a:rPr>
              <a:t>5·3</a:t>
            </a:r>
            <a:endParaRPr lang="en-US" sz="1100" dirty="0"/>
          </a:p>
        </p:txBody>
      </p:sp>
      <p:sp>
        <p:nvSpPr>
          <p:cNvPr id="31" name="Shape 28"/>
          <p:cNvSpPr/>
          <p:nvPr/>
        </p:nvSpPr>
        <p:spPr>
          <a:xfrm>
            <a:off x="704088" y="2670048"/>
            <a:ext cx="420624" cy="420624"/>
          </a:xfrm>
          <a:prstGeom prst="ellipse">
            <a:avLst/>
          </a:prstGeom>
          <a:solidFill>
            <a:schemeClr val="accent1"/>
          </a:solidFill>
          <a:ln w="22225">
            <a:solidFill>
              <a:schemeClr val="accent1"/>
            </a:solidFill>
            <a:prstDash val="solid"/>
          </a:ln>
        </p:spPr>
      </p:sp>
      <p:sp>
        <p:nvSpPr>
          <p:cNvPr id="32" name="Text 29"/>
          <p:cNvSpPr txBox="1"/>
          <p:nvPr/>
        </p:nvSpPr>
        <p:spPr>
          <a:xfrm>
            <a:off x="704088" y="267004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33" name="Shape 30"/>
          <p:cNvSpPr/>
          <p:nvPr/>
        </p:nvSpPr>
        <p:spPr>
          <a:xfrm>
            <a:off x="1755648" y="1618488"/>
            <a:ext cx="420624" cy="420624"/>
          </a:xfrm>
          <a:prstGeom prst="ellipse">
            <a:avLst/>
          </a:prstGeom>
          <a:solidFill>
            <a:schemeClr val="accent1"/>
          </a:solidFill>
          <a:ln w="22225">
            <a:solidFill>
              <a:schemeClr val="accent1"/>
            </a:solidFill>
            <a:prstDash val="solid"/>
          </a:ln>
        </p:spPr>
      </p:sp>
      <p:sp>
        <p:nvSpPr>
          <p:cNvPr id="34" name="Text 31"/>
          <p:cNvSpPr txBox="1"/>
          <p:nvPr/>
        </p:nvSpPr>
        <p:spPr>
          <a:xfrm>
            <a:off x="1755648" y="16184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35" name="Shape 32"/>
          <p:cNvSpPr/>
          <p:nvPr/>
        </p:nvSpPr>
        <p:spPr>
          <a:xfrm>
            <a:off x="1755648" y="3721608"/>
            <a:ext cx="420624" cy="420624"/>
          </a:xfrm>
          <a:prstGeom prst="ellipse">
            <a:avLst/>
          </a:prstGeom>
          <a:solidFill>
            <a:schemeClr val="accent1"/>
          </a:solidFill>
          <a:ln w="22225">
            <a:solidFill>
              <a:schemeClr val="accent1"/>
            </a:solidFill>
            <a:prstDash val="solid"/>
          </a:ln>
        </p:spPr>
      </p:sp>
      <p:sp>
        <p:nvSpPr>
          <p:cNvPr id="36" name="Text 33"/>
          <p:cNvSpPr txBox="1"/>
          <p:nvPr/>
        </p:nvSpPr>
        <p:spPr>
          <a:xfrm>
            <a:off x="1755648" y="37216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37" name="Shape 34"/>
          <p:cNvSpPr/>
          <p:nvPr/>
        </p:nvSpPr>
        <p:spPr>
          <a:xfrm>
            <a:off x="3438144" y="1618488"/>
            <a:ext cx="420624" cy="420624"/>
          </a:xfrm>
          <a:prstGeom prst="ellipse">
            <a:avLst/>
          </a:prstGeom>
          <a:solidFill>
            <a:schemeClr val="accent1"/>
          </a:solidFill>
          <a:ln w="22225">
            <a:solidFill>
              <a:schemeClr val="accent1"/>
            </a:solidFill>
            <a:prstDash val="solid"/>
          </a:ln>
        </p:spPr>
      </p:sp>
      <p:sp>
        <p:nvSpPr>
          <p:cNvPr id="38" name="Text 35"/>
          <p:cNvSpPr txBox="1"/>
          <p:nvPr/>
        </p:nvSpPr>
        <p:spPr>
          <a:xfrm>
            <a:off x="3438144" y="16184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39" name="Shape 36"/>
          <p:cNvSpPr/>
          <p:nvPr/>
        </p:nvSpPr>
        <p:spPr>
          <a:xfrm>
            <a:off x="3438144" y="3721608"/>
            <a:ext cx="420624" cy="420624"/>
          </a:xfrm>
          <a:prstGeom prst="ellipse">
            <a:avLst/>
          </a:prstGeom>
          <a:solidFill>
            <a:schemeClr val="accent1"/>
          </a:solidFill>
          <a:ln w="22225">
            <a:solidFill>
              <a:schemeClr val="accent1"/>
            </a:solidFill>
            <a:prstDash val="solid"/>
          </a:ln>
        </p:spPr>
      </p:sp>
      <p:sp>
        <p:nvSpPr>
          <p:cNvPr id="40" name="Text 37"/>
          <p:cNvSpPr txBox="1"/>
          <p:nvPr/>
        </p:nvSpPr>
        <p:spPr>
          <a:xfrm>
            <a:off x="3438144" y="372160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41" name="Shape 38"/>
          <p:cNvSpPr/>
          <p:nvPr/>
        </p:nvSpPr>
        <p:spPr>
          <a:xfrm>
            <a:off x="4489704" y="2670048"/>
            <a:ext cx="420624" cy="420624"/>
          </a:xfrm>
          <a:prstGeom prst="ellipse">
            <a:avLst/>
          </a:prstGeom>
          <a:solidFill>
            <a:schemeClr val="accent1"/>
          </a:solidFill>
          <a:ln w="22225">
            <a:solidFill>
              <a:schemeClr val="accent1"/>
            </a:solidFill>
            <a:prstDash val="solid"/>
          </a:ln>
        </p:spPr>
      </p:sp>
      <p:sp>
        <p:nvSpPr>
          <p:cNvPr id="42" name="Text 39"/>
          <p:cNvSpPr txBox="1"/>
          <p:nvPr/>
        </p:nvSpPr>
        <p:spPr>
          <a:xfrm>
            <a:off x="4489704" y="267004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43" name="Shape 40"/>
          <p:cNvSpPr/>
          <p:nvPr/>
        </p:nvSpPr>
        <p:spPr>
          <a:xfrm>
            <a:off x="640080" y="4334256"/>
            <a:ext cx="146304" cy="146304"/>
          </a:xfrm>
          <a:prstGeom prst="ellipse">
            <a:avLst/>
          </a:prstGeom>
          <a:solidFill>
            <a:schemeClr val="accent1"/>
          </a:solidFill>
          <a:ln/>
        </p:spPr>
      </p:sp>
      <p:sp>
        <p:nvSpPr>
          <p:cNvPr id="44" name="Text 41"/>
          <p:cNvSpPr txBox="1"/>
          <p:nvPr/>
        </p:nvSpPr>
        <p:spPr>
          <a:xfrm>
            <a:off x="868680" y="4297680"/>
            <a:ext cx="2011680" cy="228600"/>
          </a:xfrm>
          <a:prstGeom prst="rect">
            <a:avLst/>
          </a:prstGeom>
          <a:noFill/>
          <a:ln/>
        </p:spPr>
        <p:txBody>
          <a:bodyPr wrap="square" lIns="0" tIns="0" rIns="0" bIns="0" rtlCol="0" anchor="ctr"/>
          <a:lstStyle/>
          <a:p>
            <a:pPr indent="0" marL="0">
              <a:buNone/>
            </a:pPr>
            <a:r>
              <a:rPr lang="en-US" sz="1200" dirty="0">
                <a:solidFill>
                  <a:schemeClr val="tx2"/>
                </a:solidFill>
              </a:rPr>
              <a:t>MST edge (step · weight)</a:t>
            </a:r>
            <a:endParaRPr lang="en-US" sz="1200" dirty="0"/>
          </a:p>
        </p:txBody>
      </p:sp>
      <p:sp>
        <p:nvSpPr>
          <p:cNvPr id="45" name="Shape 42"/>
          <p:cNvSpPr/>
          <p:nvPr/>
        </p:nvSpPr>
        <p:spPr>
          <a:xfrm>
            <a:off x="3108960" y="4334256"/>
            <a:ext cx="146304" cy="146304"/>
          </a:xfrm>
          <a:prstGeom prst="ellipse">
            <a:avLst/>
          </a:prstGeom>
          <a:solidFill>
            <a:srgbClr val="C9D6CC"/>
          </a:solidFill>
          <a:ln/>
        </p:spPr>
      </p:sp>
      <p:sp>
        <p:nvSpPr>
          <p:cNvPr id="46" name="Text 43"/>
          <p:cNvSpPr txBox="1"/>
          <p:nvPr/>
        </p:nvSpPr>
        <p:spPr>
          <a:xfrm>
            <a:off x="3337560" y="4297680"/>
            <a:ext cx="2011680" cy="228600"/>
          </a:xfrm>
          <a:prstGeom prst="rect">
            <a:avLst/>
          </a:prstGeom>
          <a:noFill/>
          <a:ln/>
        </p:spPr>
        <p:txBody>
          <a:bodyPr wrap="square" lIns="0" tIns="0" rIns="0" bIns="0" rtlCol="0" anchor="ctr"/>
          <a:lstStyle/>
          <a:p>
            <a:pPr indent="0" marL="0">
              <a:buNone/>
            </a:pPr>
            <a:r>
              <a:rPr lang="en-US" sz="1200" dirty="0">
                <a:solidFill>
                  <a:schemeClr val="tx2"/>
                </a:solidFill>
              </a:rPr>
              <a:t>Skipped</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94960" y="1463040"/>
          <a:ext cx="6217920" cy="914400"/>
        </p:xfrm>
        <a:graphic>
          <a:graphicData uri="http://schemas.openxmlformats.org/drawingml/2006/table">
            <a:tbl>
              <a:tblPr/>
              <a:tblGrid>
                <a:gridCol w="640080"/>
                <a:gridCol w="1188720"/>
                <a:gridCol w="2834640"/>
                <a:gridCol w="1554480"/>
              </a:tblGrid>
              <a:tr h="548640">
                <a:tc>
                  <a:txBody>
                    <a:bodyPr/>
                    <a:lstStyle/>
                    <a:p>
                      <a:pPr indent="0" marL="0">
                        <a:buNone/>
                      </a:pPr>
                      <a:r>
                        <a:rPr lang="en-US" sz="1400" b="1" dirty="0">
                          <a:solidFill>
                            <a:srgbClr val="FFFFFF"/>
                          </a:solidFill>
                        </a:rPr>
                        <a:t>Step</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2F6B4F"/>
                    </a:solidFill>
                  </a:tcPr>
                </a:tc>
                <a:tc>
                  <a:txBody>
                    <a:bodyPr/>
                    <a:lstStyle/>
                    <a:p>
                      <a:pPr indent="0" marL="0">
                        <a:buNone/>
                      </a:pPr>
                      <a:r>
                        <a:rPr lang="en-US" sz="1400" b="1" dirty="0">
                          <a:solidFill>
                            <a:srgbClr val="FFFFFF"/>
                          </a:solidFill>
                        </a:rPr>
                        <a:t>Tree</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2F6B4F"/>
                    </a:solidFill>
                  </a:tcPr>
                </a:tc>
                <a:tc>
                  <a:txBody>
                    <a:bodyPr/>
                    <a:lstStyle/>
                    <a:p>
                      <a:pPr indent="0" marL="0">
                        <a:buNone/>
                      </a:pPr>
                      <a:r>
                        <a:rPr lang="en-US" sz="1400" b="1" dirty="0">
                          <a:solidFill>
                            <a:srgbClr val="FFFFFF"/>
                          </a:solidFill>
                        </a:rPr>
                        <a:t>Crossing edges</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2F6B4F"/>
                    </a:solidFill>
                  </a:tcPr>
                </a:tc>
                <a:tc>
                  <a:txBody>
                    <a:bodyPr/>
                    <a:lstStyle/>
                    <a:p>
                      <a:pPr indent="0" marL="0">
                        <a:buNone/>
                      </a:pPr>
                      <a:r>
                        <a:rPr lang="en-US" sz="1400" b="1" dirty="0">
                          <a:solidFill>
                            <a:srgbClr val="FFFFFF"/>
                          </a:solidFill>
                        </a:rPr>
                        <a:t>Chosen</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2F6B4F"/>
                    </a:solidFill>
                  </a:tcPr>
                </a:tc>
              </a:tr>
              <a:tr h="548640">
                <a:tc>
                  <a:txBody>
                    <a:bodyPr/>
                    <a:lstStyle/>
                    <a:p>
                      <a:pPr indent="0" marL="0">
                        <a:buNone/>
                      </a:pPr>
                      <a:r>
                        <a:rPr lang="en-US" sz="1400" dirty="0">
                          <a:solidFill>
                            <a:srgbClr val="1E3D2F"/>
                          </a:solidFill>
                        </a:rPr>
                        <a:t>1</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A</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A–B 4, A–C 2</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b="1" dirty="0">
                          <a:solidFill>
                            <a:srgbClr val="1E3D2F"/>
                          </a:solidFill>
                        </a:rPr>
                        <a:t>A–C (2)</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r>
              <a:tr h="548640">
                <a:tc>
                  <a:txBody>
                    <a:bodyPr/>
                    <a:lstStyle/>
                    <a:p>
                      <a:pPr indent="0" marL="0">
                        <a:buNone/>
                      </a:pPr>
                      <a:r>
                        <a:rPr lang="en-US" sz="1400" dirty="0">
                          <a:solidFill>
                            <a:srgbClr val="1E3D2F"/>
                          </a:solidFill>
                        </a:rPr>
                        <a:t>2</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dirty="0">
                          <a:solidFill>
                            <a:srgbClr val="1E3D2F"/>
                          </a:solidFill>
                        </a:rPr>
                        <a:t>A, C</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dirty="0">
                          <a:solidFill>
                            <a:srgbClr val="1E3D2F"/>
                          </a:solidFill>
                        </a:rPr>
                        <a:t>A–B 4, C–B 1, C–D 8, C–E 10</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b="1" dirty="0">
                          <a:solidFill>
                            <a:srgbClr val="1E3D2F"/>
                          </a:solidFill>
                        </a:rPr>
                        <a:t>C–B (1)</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E3D2F"/>
                          </a:solidFill>
                        </a:rPr>
                        <a:t>3</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A, B, C</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B–D 5, C–D 8, C–E 10</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b="1" dirty="0">
                          <a:solidFill>
                            <a:srgbClr val="1E3D2F"/>
                          </a:solidFill>
                        </a:rPr>
                        <a:t>B–D (5)</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r>
              <a:tr h="548640">
                <a:tc>
                  <a:txBody>
                    <a:bodyPr/>
                    <a:lstStyle/>
                    <a:p>
                      <a:pPr indent="0" marL="0">
                        <a:buNone/>
                      </a:pPr>
                      <a:r>
                        <a:rPr lang="en-US" sz="1400" dirty="0">
                          <a:solidFill>
                            <a:srgbClr val="1E3D2F"/>
                          </a:solidFill>
                        </a:rPr>
                        <a:t>4</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dirty="0">
                          <a:solidFill>
                            <a:srgbClr val="1E3D2F"/>
                          </a:solidFill>
                        </a:rPr>
                        <a:t>A, B, C, D</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dirty="0">
                          <a:solidFill>
                            <a:srgbClr val="1E3D2F"/>
                          </a:solidFill>
                        </a:rPr>
                        <a:t>D–E 2, D–F 6, C–E 10</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b="1" dirty="0">
                          <a:solidFill>
                            <a:srgbClr val="1E3D2F"/>
                          </a:solidFill>
                        </a:rPr>
                        <a:t>D–E (2)</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E3D2F"/>
                          </a:solidFill>
                        </a:rPr>
                        <a:t>5</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A–E</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D–F 6, E–F 3</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b="1" dirty="0">
                          <a:solidFill>
                            <a:srgbClr val="1E3D2F"/>
                          </a:solidFill>
                        </a:rPr>
                        <a:t>E–F (3)</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r>
            </a:tbl>
          </a:graphicData>
        </a:graphic>
      </p:graphicFrame>
      <p:sp>
        <p:nvSpPr>
          <p:cNvPr id="48" name="Shape 44"/>
          <p:cNvSpPr/>
          <p:nvPr/>
        </p:nvSpPr>
        <p:spPr>
          <a:xfrm>
            <a:off x="548640" y="5349240"/>
            <a:ext cx="11064240" cy="777240"/>
          </a:xfrm>
          <a:prstGeom prst="roundRect">
            <a:avLst>
              <a:gd name="adj" fmla="val 14118"/>
            </a:avLst>
          </a:prstGeom>
          <a:solidFill>
            <a:schemeClr val="tx2"/>
          </a:solidFill>
          <a:ln/>
        </p:spPr>
      </p:sp>
      <p:sp>
        <p:nvSpPr>
          <p:cNvPr id="49" name="Text 45"/>
          <p:cNvSpPr txBox="1"/>
          <p:nvPr/>
        </p:nvSpPr>
        <p:spPr>
          <a:xfrm>
            <a:off x="822960" y="5349240"/>
            <a:ext cx="10515600" cy="77724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Total weight = 2 + 1 + 5 + 2 + 3 = 13   (5 edges = V − 1)</a:t>
            </a:r>
            <a:endParaRPr lang="en-US" sz="2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B5A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Pseudocode: Prim’s with a Min-Heap</a:t>
            </a:r>
            <a:endParaRPr lang="en-US" sz="3600" dirty="0"/>
          </a:p>
        </p:txBody>
      </p:sp>
      <p:sp>
        <p:nvSpPr>
          <p:cNvPr id="4" name="Shape 1"/>
          <p:cNvSpPr/>
          <p:nvPr/>
        </p:nvSpPr>
        <p:spPr>
          <a:xfrm>
            <a:off x="548640" y="1371600"/>
            <a:ext cx="6949440" cy="4754880"/>
          </a:xfrm>
          <a:prstGeom prst="roundRect">
            <a:avLst>
              <a:gd name="adj" fmla="val 2308"/>
            </a:avLst>
          </a:prstGeom>
          <a:solidFill>
            <a:srgbClr val="1E3D2F"/>
          </a:solidFill>
          <a:ln/>
        </p:spPr>
      </p:sp>
      <p:sp>
        <p:nvSpPr>
          <p:cNvPr id="5" name="Text 2"/>
          <p:cNvSpPr txBox="1"/>
          <p:nvPr/>
        </p:nvSpPr>
        <p:spPr>
          <a:xfrm>
            <a:off x="822960" y="1554480"/>
            <a:ext cx="6492240" cy="4389120"/>
          </a:xfrm>
          <a:prstGeom prst="rect">
            <a:avLst/>
          </a:prstGeom>
          <a:noFill/>
          <a:ln/>
        </p:spPr>
        <p:txBody>
          <a:bodyPr wrap="square" lIns="0" tIns="0" rIns="0" bIns="0" rtlCol="0" anchor="t"/>
          <a:lstStyle/>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Prim(G, start):</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for each vertex v:</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key[v] = INF;  parent[v] = NIL</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inMST[v] = false</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key[start] = 0</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PQ = min-heap { (0, start) }</a:t>
            </a:r>
            <a:endParaRPr lang="en-US" sz="1300" dirty="0"/>
          </a:p>
          <a:p>
            <a:pPr indent="0" marL="0">
              <a:lnSpc>
                <a:spcPct val="105000"/>
              </a:lnSpc>
              <a:buNone/>
            </a:pP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while PQ is not empty:</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(k, u) = PQ.extractMin()</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if inMST[u]: continue    // stale entry</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inMST[u] = true</a:t>
            </a:r>
            <a:endParaRPr lang="en-US" sz="1300" dirty="0"/>
          </a:p>
          <a:p>
            <a:pPr indent="0" marL="0">
              <a:lnSpc>
                <a:spcPct val="105000"/>
              </a:lnSpc>
              <a:buNone/>
            </a:pP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for each (v, w) in adj[u]:</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if not inMST[v] and w &lt; key[v]:</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key[v] = w</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parent[v] = u</a:t>
            </a: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PQ.insert((w, v))</a:t>
            </a:r>
            <a:endParaRPr lang="en-US" sz="1300" dirty="0"/>
          </a:p>
          <a:p>
            <a:pPr indent="0" marL="0">
              <a:lnSpc>
                <a:spcPct val="105000"/>
              </a:lnSpc>
              <a:buNone/>
            </a:pPr>
            <a:endParaRPr lang="en-US" sz="1300" dirty="0"/>
          </a:p>
          <a:p>
            <a:pPr indent="0" marL="0">
              <a:lnSpc>
                <a:spcPct val="105000"/>
              </a:lnSpc>
              <a:buNone/>
            </a:pPr>
            <a:r>
              <a:rPr lang="en-US" sz="1300" dirty="0">
                <a:solidFill>
                  <a:srgbClr val="DCEBDF"/>
                </a:solidFill>
                <a:latin typeface="Courier New" pitchFamily="34" charset="0"/>
                <a:ea typeface="Courier New" pitchFamily="34" charset="-122"/>
                <a:cs typeface="Courier New" pitchFamily="34" charset="-120"/>
              </a:rPr>
              <a:t>  return parent   // MST edges: (parent[v], v)</a:t>
            </a:r>
            <a:endParaRPr lang="en-US" sz="1300" dirty="0"/>
          </a:p>
        </p:txBody>
      </p:sp>
      <p:sp>
        <p:nvSpPr>
          <p:cNvPr id="6" name="Shape 3"/>
          <p:cNvSpPr/>
          <p:nvPr/>
        </p:nvSpPr>
        <p:spPr>
          <a:xfrm>
            <a:off x="7863840" y="1371600"/>
            <a:ext cx="3749040" cy="1005840"/>
          </a:xfrm>
          <a:prstGeom prst="roundRect">
            <a:avLst>
              <a:gd name="adj" fmla="val 10909"/>
            </a:avLst>
          </a:prstGeom>
          <a:solidFill>
            <a:schemeClr val="bg2"/>
          </a:solidFill>
          <a:ln/>
        </p:spPr>
      </p:sp>
      <p:sp>
        <p:nvSpPr>
          <p:cNvPr id="7" name="Shape 4"/>
          <p:cNvSpPr/>
          <p:nvPr/>
        </p:nvSpPr>
        <p:spPr>
          <a:xfrm>
            <a:off x="8046720" y="1737360"/>
            <a:ext cx="274320" cy="274320"/>
          </a:xfrm>
          <a:prstGeom prst="ellipse">
            <a:avLst/>
          </a:prstGeom>
          <a:solidFill>
            <a:schemeClr val="accent6"/>
          </a:solidFill>
          <a:ln/>
        </p:spPr>
      </p:sp>
      <p:sp>
        <p:nvSpPr>
          <p:cNvPr id="8" name="Text 5"/>
          <p:cNvSpPr txBox="1"/>
          <p:nvPr/>
        </p:nvSpPr>
        <p:spPr>
          <a:xfrm>
            <a:off x="8503920" y="1371600"/>
            <a:ext cx="3017520" cy="1005840"/>
          </a:xfrm>
          <a:prstGeom prst="rect">
            <a:avLst/>
          </a:prstGeom>
          <a:noFill/>
          <a:ln/>
        </p:spPr>
        <p:txBody>
          <a:bodyPr wrap="square" lIns="0" tIns="0" rIns="0" bIns="0" rtlCol="0" anchor="ctr"/>
          <a:lstStyle/>
          <a:p>
            <a:pPr indent="0" marL="0">
              <a:buNone/>
            </a:pPr>
            <a:r>
              <a:rPr lang="en-US" sz="1600" b="1" dirty="0">
                <a:solidFill>
                  <a:schemeClr val="tx1"/>
                </a:solidFill>
              </a:rPr>
              <a:t>Initialize</a:t>
            </a:r>
            <a:endParaRPr lang="en-US" sz="1600" dirty="0"/>
          </a:p>
          <a:p>
            <a:pPr indent="0" marL="0">
              <a:buNone/>
            </a:pPr>
            <a:r>
              <a:rPr lang="en-US" sz="1400" dirty="0">
                <a:solidFill>
                  <a:schemeClr val="tx1"/>
                </a:solidFill>
              </a:rPr>
              <a:t>key = ∞, start key = 0, push the start vertex.</a:t>
            </a:r>
            <a:endParaRPr lang="en-US" sz="1600" dirty="0"/>
          </a:p>
        </p:txBody>
      </p:sp>
      <p:sp>
        <p:nvSpPr>
          <p:cNvPr id="9" name="Shape 6"/>
          <p:cNvSpPr/>
          <p:nvPr/>
        </p:nvSpPr>
        <p:spPr>
          <a:xfrm>
            <a:off x="7863840" y="2560320"/>
            <a:ext cx="3749040" cy="1005840"/>
          </a:xfrm>
          <a:prstGeom prst="roundRect">
            <a:avLst>
              <a:gd name="adj" fmla="val 10909"/>
            </a:avLst>
          </a:prstGeom>
          <a:solidFill>
            <a:schemeClr val="bg2"/>
          </a:solidFill>
          <a:ln/>
        </p:spPr>
      </p:sp>
      <p:sp>
        <p:nvSpPr>
          <p:cNvPr id="10" name="Shape 7"/>
          <p:cNvSpPr/>
          <p:nvPr/>
        </p:nvSpPr>
        <p:spPr>
          <a:xfrm>
            <a:off x="8046720" y="2926080"/>
            <a:ext cx="274320" cy="274320"/>
          </a:xfrm>
          <a:prstGeom prst="ellipse">
            <a:avLst/>
          </a:prstGeom>
          <a:solidFill>
            <a:schemeClr val="accent2"/>
          </a:solidFill>
          <a:ln/>
        </p:spPr>
      </p:sp>
      <p:sp>
        <p:nvSpPr>
          <p:cNvPr id="11" name="Text 8"/>
          <p:cNvSpPr txBox="1"/>
          <p:nvPr/>
        </p:nvSpPr>
        <p:spPr>
          <a:xfrm>
            <a:off x="8503920" y="2560320"/>
            <a:ext cx="3017520" cy="1005840"/>
          </a:xfrm>
          <a:prstGeom prst="rect">
            <a:avLst/>
          </a:prstGeom>
          <a:noFill/>
          <a:ln/>
        </p:spPr>
        <p:txBody>
          <a:bodyPr wrap="square" lIns="0" tIns="0" rIns="0" bIns="0" rtlCol="0" anchor="ctr"/>
          <a:lstStyle/>
          <a:p>
            <a:pPr indent="0" marL="0">
              <a:buNone/>
            </a:pPr>
            <a:r>
              <a:rPr lang="en-US" sz="1600" b="1" dirty="0">
                <a:solidFill>
                  <a:schemeClr val="tx1"/>
                </a:solidFill>
              </a:rPr>
              <a:t>Extract</a:t>
            </a:r>
            <a:endParaRPr lang="en-US" sz="1600" dirty="0"/>
          </a:p>
          <a:p>
            <a:pPr indent="0" marL="0">
              <a:buNone/>
            </a:pPr>
            <a:r>
              <a:rPr lang="en-US" sz="1400" dirty="0">
                <a:solidFill>
                  <a:schemeClr val="tx1"/>
                </a:solidFill>
              </a:rPr>
              <a:t>Pop the cheapest vertex; skip stale entries.</a:t>
            </a:r>
            <a:endParaRPr lang="en-US" sz="1600" dirty="0"/>
          </a:p>
        </p:txBody>
      </p:sp>
      <p:sp>
        <p:nvSpPr>
          <p:cNvPr id="12" name="Shape 9"/>
          <p:cNvSpPr/>
          <p:nvPr/>
        </p:nvSpPr>
        <p:spPr>
          <a:xfrm>
            <a:off x="7863840" y="3749040"/>
            <a:ext cx="3749040" cy="1005840"/>
          </a:xfrm>
          <a:prstGeom prst="roundRect">
            <a:avLst>
              <a:gd name="adj" fmla="val 10909"/>
            </a:avLst>
          </a:prstGeom>
          <a:solidFill>
            <a:schemeClr val="bg2"/>
          </a:solidFill>
          <a:ln/>
        </p:spPr>
      </p:sp>
      <p:sp>
        <p:nvSpPr>
          <p:cNvPr id="13" name="Shape 10"/>
          <p:cNvSpPr/>
          <p:nvPr/>
        </p:nvSpPr>
        <p:spPr>
          <a:xfrm>
            <a:off x="8046720" y="4114800"/>
            <a:ext cx="274320" cy="274320"/>
          </a:xfrm>
          <a:prstGeom prst="ellipse">
            <a:avLst/>
          </a:prstGeom>
          <a:solidFill>
            <a:schemeClr val="accent1"/>
          </a:solidFill>
          <a:ln/>
        </p:spPr>
      </p:sp>
      <p:sp>
        <p:nvSpPr>
          <p:cNvPr id="14" name="Text 11"/>
          <p:cNvSpPr txBox="1"/>
          <p:nvPr/>
        </p:nvSpPr>
        <p:spPr>
          <a:xfrm>
            <a:off x="8503920" y="3749040"/>
            <a:ext cx="3017520" cy="1005840"/>
          </a:xfrm>
          <a:prstGeom prst="rect">
            <a:avLst/>
          </a:prstGeom>
          <a:noFill/>
          <a:ln/>
        </p:spPr>
        <p:txBody>
          <a:bodyPr wrap="square" lIns="0" tIns="0" rIns="0" bIns="0" rtlCol="0" anchor="ctr"/>
          <a:lstStyle/>
          <a:p>
            <a:pPr indent="0" marL="0">
              <a:buNone/>
            </a:pPr>
            <a:r>
              <a:rPr lang="en-US" sz="1600" b="1" dirty="0">
                <a:solidFill>
                  <a:schemeClr val="tx1"/>
                </a:solidFill>
              </a:rPr>
              <a:t>Relax</a:t>
            </a:r>
            <a:endParaRPr lang="en-US" sz="1600" dirty="0"/>
          </a:p>
          <a:p>
            <a:pPr indent="0" marL="0">
              <a:buNone/>
            </a:pPr>
            <a:r>
              <a:rPr lang="en-US" sz="1400" dirty="0">
                <a:solidFill>
                  <a:schemeClr val="tx1"/>
                </a:solidFill>
              </a:rPr>
              <a:t>Update neighbors’ keys and push new entries.</a:t>
            </a:r>
            <a:endParaRPr lang="en-US" sz="1600" dirty="0"/>
          </a:p>
        </p:txBody>
      </p:sp>
      <p:sp>
        <p:nvSpPr>
          <p:cNvPr id="15" name="Shape 12"/>
          <p:cNvSpPr/>
          <p:nvPr/>
        </p:nvSpPr>
        <p:spPr>
          <a:xfrm>
            <a:off x="7863840" y="4937760"/>
            <a:ext cx="3749040" cy="1005840"/>
          </a:xfrm>
          <a:prstGeom prst="roundRect">
            <a:avLst>
              <a:gd name="adj" fmla="val 10909"/>
            </a:avLst>
          </a:prstGeom>
          <a:solidFill>
            <a:schemeClr val="bg2"/>
          </a:solidFill>
          <a:ln/>
        </p:spPr>
      </p:sp>
      <p:sp>
        <p:nvSpPr>
          <p:cNvPr id="16" name="Shape 13"/>
          <p:cNvSpPr/>
          <p:nvPr/>
        </p:nvSpPr>
        <p:spPr>
          <a:xfrm>
            <a:off x="8046720" y="5303520"/>
            <a:ext cx="274320" cy="274320"/>
          </a:xfrm>
          <a:prstGeom prst="ellipse">
            <a:avLst/>
          </a:prstGeom>
          <a:solidFill>
            <a:schemeClr val="accent5"/>
          </a:solidFill>
          <a:ln/>
        </p:spPr>
      </p:sp>
      <p:sp>
        <p:nvSpPr>
          <p:cNvPr id="17" name="Text 14"/>
          <p:cNvSpPr txBox="1"/>
          <p:nvPr/>
        </p:nvSpPr>
        <p:spPr>
          <a:xfrm>
            <a:off x="8503920" y="4937760"/>
            <a:ext cx="3017520" cy="1005840"/>
          </a:xfrm>
          <a:prstGeom prst="rect">
            <a:avLst/>
          </a:prstGeom>
          <a:noFill/>
          <a:ln/>
        </p:spPr>
        <p:txBody>
          <a:bodyPr wrap="square" lIns="0" tIns="0" rIns="0" bIns="0" rtlCol="0" anchor="ctr"/>
          <a:lstStyle/>
          <a:p>
            <a:pPr indent="0" marL="0">
              <a:buNone/>
            </a:pPr>
            <a:r>
              <a:rPr lang="en-US" sz="1600" b="1" dirty="0">
                <a:solidFill>
                  <a:schemeClr val="tx1"/>
                </a:solidFill>
              </a:rPr>
              <a:t>Lazy variant</a:t>
            </a:r>
            <a:endParaRPr lang="en-US" sz="1600" dirty="0"/>
          </a:p>
          <a:p>
            <a:pPr indent="0" marL="0">
              <a:buNone/>
            </a:pPr>
            <a:r>
              <a:rPr lang="en-US" sz="1400" dirty="0">
                <a:solidFill>
                  <a:schemeClr val="tx1"/>
                </a:solidFill>
              </a:rPr>
              <a:t>Duplicates instead of decrease-key; still O(E log V).</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B5A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Complexity Analysis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120640" cy="914400"/>
        </p:xfrm>
        <a:graphic>
          <a:graphicData uri="http://schemas.openxmlformats.org/drawingml/2006/table">
            <a:tbl>
              <a:tblPr/>
              <a:tblGrid>
                <a:gridCol w="1920240"/>
                <a:gridCol w="1371600"/>
                <a:gridCol w="1828800"/>
              </a:tblGrid>
              <a:tr h="566928">
                <a:tc>
                  <a:txBody>
                    <a:bodyPr/>
                    <a:lstStyle/>
                    <a:p>
                      <a:pPr indent="0" marL="0">
                        <a:buNone/>
                      </a:pPr>
                      <a:r>
                        <a:rPr lang="en-US" sz="1400" b="1" dirty="0">
                          <a:solidFill>
                            <a:srgbClr val="FFFFFF"/>
                          </a:solidFill>
                        </a:rPr>
                        <a:t>Implementation</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2F6B4F"/>
                    </a:solidFill>
                  </a:tcPr>
                </a:tc>
                <a:tc>
                  <a:txBody>
                    <a:bodyPr/>
                    <a:lstStyle/>
                    <a:p>
                      <a:pPr indent="0" marL="0">
                        <a:buNone/>
                      </a:pPr>
                      <a:r>
                        <a:rPr lang="en-US" sz="1400" b="1" dirty="0">
                          <a:solidFill>
                            <a:srgbClr val="FFFFFF"/>
                          </a:solidFill>
                        </a:rPr>
                        <a:t>Time</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2F6B4F"/>
                    </a:solidFill>
                  </a:tcPr>
                </a:tc>
                <a:tc>
                  <a:txBody>
                    <a:bodyPr/>
                    <a:lstStyle/>
                    <a:p>
                      <a:pPr indent="0" marL="0">
                        <a:buNone/>
                      </a:pPr>
                      <a:r>
                        <a:rPr lang="en-US" sz="1400" b="1" dirty="0">
                          <a:solidFill>
                            <a:srgbClr val="FFFFFF"/>
                          </a:solidFill>
                        </a:rPr>
                        <a:t>Best for</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2F6B4F"/>
                    </a:solidFill>
                  </a:tcPr>
                </a:tc>
              </a:tr>
              <a:tr h="566928">
                <a:tc>
                  <a:txBody>
                    <a:bodyPr/>
                    <a:lstStyle/>
                    <a:p>
                      <a:pPr indent="0" marL="0">
                        <a:buNone/>
                      </a:pPr>
                      <a:r>
                        <a:rPr lang="en-US" sz="1400" dirty="0">
                          <a:solidFill>
                            <a:srgbClr val="1E3D2F"/>
                          </a:solidFill>
                        </a:rPr>
                        <a:t>Matrix + array scan</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b="1" dirty="0">
                          <a:solidFill>
                            <a:srgbClr val="1E3D2F"/>
                          </a:solidFill>
                        </a:rPr>
                        <a:t>O(V²)</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Dense graphs</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r>
              <a:tr h="566928">
                <a:tc>
                  <a:txBody>
                    <a:bodyPr/>
                    <a:lstStyle/>
                    <a:p>
                      <a:pPr indent="0" marL="0">
                        <a:buNone/>
                      </a:pPr>
                      <a:r>
                        <a:rPr lang="en-US" sz="1400" dirty="0">
                          <a:solidFill>
                            <a:srgbClr val="1E3D2F"/>
                          </a:solidFill>
                        </a:rPr>
                        <a:t>List + binary heap</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b="1" dirty="0">
                          <a:solidFill>
                            <a:srgbClr val="1E3D2F"/>
                          </a:solidFill>
                        </a:rPr>
                        <a:t>O(E log V)</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dirty="0">
                          <a:solidFill>
                            <a:srgbClr val="1E3D2F"/>
                          </a:solidFill>
                        </a:rPr>
                        <a:t>Sparse graphs</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1E3D2F"/>
                          </a:solidFill>
                        </a:rPr>
                        <a:t>List + Fibonacci heap</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b="1" dirty="0">
                          <a:solidFill>
                            <a:srgbClr val="1E3D2F"/>
                          </a:solidFill>
                        </a:rPr>
                        <a:t>O(E + V log V)</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Rarely used in practice</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r>
            </a:tbl>
          </a:graphicData>
        </a:graphic>
      </p:graphicFrame>
      <p:sp>
        <p:nvSpPr>
          <p:cNvPr id="5" name="Text 1"/>
          <p:cNvSpPr txBox="1"/>
          <p:nvPr/>
        </p:nvSpPr>
        <p:spPr>
          <a:xfrm>
            <a:off x="548640" y="4160520"/>
            <a:ext cx="5120640" cy="192024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chemeClr val="tx1"/>
                </a:solidFill>
              </a:rPr>
              <a:t>Space: </a:t>
            </a:r>
            <a:pPr indent="0" marL="0">
              <a:spcAft>
                <a:spcPts val="1000"/>
              </a:spcAft>
              <a:buNone/>
            </a:pPr>
            <a:r>
              <a:rPr lang="en-US" sz="1600" dirty="0">
                <a:solidFill>
                  <a:schemeClr val="tx1"/>
                </a:solidFill>
              </a:rPr>
              <a:t>O(V + E) for the graph, O(V) for key, parent and visited</a:t>
            </a:r>
            <a:endParaRPr lang="en-US" sz="1600" dirty="0"/>
          </a:p>
          <a:p>
            <a:pPr marL="342900" indent="-342900">
              <a:spcAft>
                <a:spcPts val="1000"/>
              </a:spcAft>
              <a:buSzPct val="100000"/>
              <a:buChar char="•"/>
            </a:pPr>
            <a:r>
              <a:rPr lang="en-US" sz="1600" b="1" dirty="0">
                <a:solidFill>
                  <a:schemeClr val="tx1"/>
                </a:solidFill>
              </a:rPr>
              <a:t>Rule of thumb: </a:t>
            </a:r>
            <a:pPr indent="0" marL="0">
              <a:spcAft>
                <a:spcPts val="1000"/>
              </a:spcAft>
              <a:buNone/>
            </a:pPr>
            <a:r>
              <a:rPr lang="en-US" sz="1600" dirty="0">
                <a:solidFill>
                  <a:schemeClr val="tx1"/>
                </a:solidFill>
              </a:rPr>
              <a:t>E ≈ V² favors the matrix scan; E ≈ V favors the heap</a:t>
            </a:r>
            <a:endParaRPr lang="en-US" sz="1600" dirty="0"/>
          </a:p>
        </p:txBody>
      </p:sp>
      <p:graphicFrame>
        <p:nvGraphicFramePr>
          <p:cNvPr id="6" name="Chart 0" descr=""/>
          <p:cNvGraphicFramePr/>
          <p:nvPr/>
        </p:nvGraphicFramePr>
        <p:xfrm>
          <a:off x="6035040" y="1371600"/>
          <a:ext cx="5577840"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B5A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Prim’s vs. Kruskal’s</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286000"/>
                <a:gridCol w="4389120"/>
                <a:gridCol w="4389120"/>
              </a:tblGrid>
              <a:tr h="457200">
                <a:tc>
                  <a:txBody>
                    <a:bodyPr/>
                    <a:lstStyle/>
                    <a:p>
                      <a:pPr indent="0" marL="0">
                        <a:buNone/>
                      </a:pPr>
                      <a:r>
                        <a:rPr lang="en-US" sz="1400" b="1" dirty="0">
                          <a:solidFill>
                            <a:srgbClr val="FFFFFF"/>
                          </a:solidFill>
                        </a:rPr>
                        <a:t>Feature</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2F6B4F"/>
                    </a:solidFill>
                  </a:tcPr>
                </a:tc>
                <a:tc>
                  <a:txBody>
                    <a:bodyPr/>
                    <a:lstStyle/>
                    <a:p>
                      <a:pPr indent="0" marL="0">
                        <a:buNone/>
                      </a:pPr>
                      <a:r>
                        <a:rPr lang="en-US" sz="1400" b="1" dirty="0">
                          <a:solidFill>
                            <a:srgbClr val="FFFFFF"/>
                          </a:solidFill>
                        </a:rPr>
                        <a:t>Prim’s</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2F6B4F"/>
                    </a:solidFill>
                  </a:tcPr>
                </a:tc>
                <a:tc>
                  <a:txBody>
                    <a:bodyPr/>
                    <a:lstStyle/>
                    <a:p>
                      <a:pPr indent="0" marL="0">
                        <a:buNone/>
                      </a:pPr>
                      <a:r>
                        <a:rPr lang="en-US" sz="1400" b="1" dirty="0">
                          <a:solidFill>
                            <a:srgbClr val="FFFFFF"/>
                          </a:solidFill>
                        </a:rPr>
                        <a:t>Kruskal’s</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2F6B4F"/>
                    </a:solidFill>
                  </a:tcPr>
                </a:tc>
              </a:tr>
              <a:tr h="457200">
                <a:tc>
                  <a:txBody>
                    <a:bodyPr/>
                    <a:lstStyle/>
                    <a:p>
                      <a:pPr indent="0" marL="0">
                        <a:buNone/>
                      </a:pPr>
                      <a:r>
                        <a:rPr lang="en-US" sz="1400" b="1" dirty="0">
                          <a:solidFill>
                            <a:srgbClr val="1E3D2F"/>
                          </a:solidFill>
                        </a:rPr>
                        <a:t>Strategy</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Grows one tree from a start vertex</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Merges a forest by sorted edge weight</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r>
              <a:tr h="457200">
                <a:tc>
                  <a:txBody>
                    <a:bodyPr/>
                    <a:lstStyle/>
                    <a:p>
                      <a:pPr indent="0" marL="0">
                        <a:buNone/>
                      </a:pPr>
                      <a:r>
                        <a:rPr lang="en-US" sz="1400" b="1" dirty="0">
                          <a:solidFill>
                            <a:srgbClr val="1E3D2F"/>
                          </a:solidFill>
                        </a:rPr>
                        <a:t>Data structure</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dirty="0">
                          <a:solidFill>
                            <a:srgbClr val="1E3D2F"/>
                          </a:solidFill>
                        </a:rPr>
                        <a:t>Priority queue (min-heap)</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dirty="0">
                          <a:solidFill>
                            <a:srgbClr val="1E3D2F"/>
                          </a:solidFill>
                        </a:rPr>
                        <a:t>Sorting + Union-Find (DSU)</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3D2F"/>
                          </a:solidFill>
                        </a:rPr>
                        <a:t>Time</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O(E log V) heap · O(V²) matrix</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O(E log E) ≈ O(E log V)</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r>
              <a:tr h="457200">
                <a:tc>
                  <a:txBody>
                    <a:bodyPr/>
                    <a:lstStyle/>
                    <a:p>
                      <a:pPr indent="0" marL="0">
                        <a:buNone/>
                      </a:pPr>
                      <a:r>
                        <a:rPr lang="en-US" sz="1400" b="1" dirty="0">
                          <a:solidFill>
                            <a:srgbClr val="1E3D2F"/>
                          </a:solidFill>
                        </a:rPr>
                        <a:t>Works best on</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dirty="0">
                          <a:solidFill>
                            <a:srgbClr val="1E3D2F"/>
                          </a:solidFill>
                        </a:rPr>
                        <a:t>Dense graphs</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dirty="0">
                          <a:solidFill>
                            <a:srgbClr val="1E3D2F"/>
                          </a:solidFill>
                        </a:rPr>
                        <a:t>Sparse graphs</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3D2F"/>
                          </a:solidFill>
                        </a:rPr>
                        <a:t>Intermediate state</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Always one connected tree</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c>
                  <a:txBody>
                    <a:bodyPr/>
                    <a:lstStyle/>
                    <a:p>
                      <a:pPr indent="0" marL="0">
                        <a:buNone/>
                      </a:pPr>
                      <a:r>
                        <a:rPr lang="en-US" sz="1400" dirty="0">
                          <a:solidFill>
                            <a:srgbClr val="1E3D2F"/>
                          </a:solidFill>
                        </a:rPr>
                        <a:t>A forest of fragments that merge</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E3F1E6"/>
                    </a:solidFill>
                  </a:tcPr>
                </a:tc>
              </a:tr>
              <a:tr h="457200">
                <a:tc>
                  <a:txBody>
                    <a:bodyPr/>
                    <a:lstStyle/>
                    <a:p>
                      <a:pPr indent="0" marL="0">
                        <a:buNone/>
                      </a:pPr>
                      <a:r>
                        <a:rPr lang="en-US" sz="1400" b="1" dirty="0">
                          <a:solidFill>
                            <a:srgbClr val="1E3D2F"/>
                          </a:solidFill>
                        </a:rPr>
                        <a:t>Disconnected input</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dirty="0">
                          <a:solidFill>
                            <a:srgbClr val="1E3D2F"/>
                          </a:solidFill>
                        </a:rPr>
                        <a:t>Needs a restart per component</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c>
                  <a:txBody>
                    <a:bodyPr/>
                    <a:lstStyle/>
                    <a:p>
                      <a:pPr indent="0" marL="0">
                        <a:buNone/>
                      </a:pPr>
                      <a:r>
                        <a:rPr lang="en-US" sz="1400" dirty="0">
                          <a:solidFill>
                            <a:srgbClr val="1E3D2F"/>
                          </a:solidFill>
                        </a:rPr>
                        <a:t>Yields a spanning forest naturally</a:t>
                      </a:r>
                      <a:endParaRPr lang="en-US" sz="1400" dirty="0"/>
                    </a:p>
                  </a:txBody>
                  <a:tcPr marL="91440" marR="91440" marT="45720" marB="45720" anchor="ctr">
                    <a:lnL w="9525" cap="flat" cmpd="sng" algn="ctr">
                      <a:solidFill>
                        <a:srgbClr val="CFE0D3"/>
                      </a:solidFill>
                      <a:prstDash val="solid"/>
                      <a:round/>
                      <a:headEnd type="none" w="med" len="med"/>
                      <a:tailEnd type="none" w="med" len="med"/>
                    </a:lnL>
                    <a:lnR w="9525" cap="flat" cmpd="sng" algn="ctr">
                      <a:solidFill>
                        <a:srgbClr val="CFE0D3"/>
                      </a:solidFill>
                      <a:prstDash val="solid"/>
                      <a:round/>
                      <a:headEnd type="none" w="med" len="med"/>
                      <a:tailEnd type="none" w="med" len="med"/>
                    </a:lnR>
                    <a:lnT w="9525" cap="flat" cmpd="sng" algn="ctr">
                      <a:solidFill>
                        <a:srgbClr val="CFE0D3"/>
                      </a:solidFill>
                      <a:prstDash val="solid"/>
                      <a:round/>
                      <a:headEnd type="none" w="med" len="med"/>
                      <a:tailEnd type="none" w="med" len="med"/>
                    </a:lnT>
                    <a:lnB w="9525" cap="flat" cmpd="sng" algn="ctr">
                      <a:solidFill>
                        <a:srgbClr val="CFE0D3"/>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4846320"/>
            <a:ext cx="5394960" cy="1280160"/>
          </a:xfrm>
          <a:prstGeom prst="roundRect">
            <a:avLst>
              <a:gd name="adj" fmla="val 8571"/>
            </a:avLst>
          </a:prstGeom>
          <a:solidFill>
            <a:schemeClr val="accent6"/>
          </a:solidFill>
          <a:ln/>
        </p:spPr>
      </p:sp>
      <p:sp>
        <p:nvSpPr>
          <p:cNvPr id="6" name="Text 2"/>
          <p:cNvSpPr txBox="1"/>
          <p:nvPr/>
        </p:nvSpPr>
        <p:spPr>
          <a:xfrm>
            <a:off x="822960" y="4846320"/>
            <a:ext cx="4846320" cy="1280160"/>
          </a:xfrm>
          <a:prstGeom prst="rect">
            <a:avLst/>
          </a:prstGeom>
          <a:noFill/>
          <a:ln/>
        </p:spPr>
        <p:txBody>
          <a:bodyPr wrap="square" lIns="0" tIns="0" rIns="0" bIns="0" rtlCol="0" anchor="ctr"/>
          <a:lstStyle/>
          <a:p>
            <a:pPr indent="0" marL="0">
              <a:buNone/>
            </a:pPr>
            <a:r>
              <a:rPr lang="en-US" sz="1800" b="1" dirty="0">
                <a:solidFill>
                  <a:schemeClr val="bg1"/>
                </a:solidFill>
              </a:rPr>
              <a:t>Choose Prim’s when</a:t>
            </a:r>
            <a:endParaRPr lang="en-US" sz="1800" dirty="0"/>
          </a:p>
          <a:p>
            <a:pPr indent="0" marL="0">
              <a:buNone/>
            </a:pPr>
            <a:r>
              <a:rPr lang="en-US" sz="1500" dirty="0">
                <a:solidFill>
                  <a:schemeClr val="bg1"/>
                </a:solidFill>
              </a:rPr>
              <a:t>the graph is dense or already stored as an adjacency list or matrix.</a:t>
            </a:r>
            <a:endParaRPr lang="en-US" sz="1800" dirty="0"/>
          </a:p>
        </p:txBody>
      </p:sp>
      <p:sp>
        <p:nvSpPr>
          <p:cNvPr id="7" name="Shape 3"/>
          <p:cNvSpPr/>
          <p:nvPr/>
        </p:nvSpPr>
        <p:spPr>
          <a:xfrm>
            <a:off x="6217920" y="4846320"/>
            <a:ext cx="5394960" cy="1280160"/>
          </a:xfrm>
          <a:prstGeom prst="roundRect">
            <a:avLst>
              <a:gd name="adj" fmla="val 8571"/>
            </a:avLst>
          </a:prstGeom>
          <a:solidFill>
            <a:srgbClr val="B45309"/>
          </a:solidFill>
          <a:ln/>
        </p:spPr>
      </p:sp>
      <p:sp>
        <p:nvSpPr>
          <p:cNvPr id="8" name="Text 4"/>
          <p:cNvSpPr txBox="1"/>
          <p:nvPr/>
        </p:nvSpPr>
        <p:spPr>
          <a:xfrm>
            <a:off x="6492240" y="4846320"/>
            <a:ext cx="4846320" cy="1280160"/>
          </a:xfrm>
          <a:prstGeom prst="rect">
            <a:avLst/>
          </a:prstGeom>
          <a:noFill/>
          <a:ln/>
        </p:spPr>
        <p:txBody>
          <a:bodyPr wrap="square" lIns="0" tIns="0" rIns="0" bIns="0" rtlCol="0" anchor="ctr"/>
          <a:lstStyle/>
          <a:p>
            <a:pPr indent="0" marL="0">
              <a:buNone/>
            </a:pPr>
            <a:r>
              <a:rPr lang="en-US" sz="1800" b="1" dirty="0">
                <a:solidFill>
                  <a:schemeClr val="bg1"/>
                </a:solidFill>
              </a:rPr>
              <a:t>Choose Kruskal’s when</a:t>
            </a:r>
            <a:endParaRPr lang="en-US" sz="1800" dirty="0"/>
          </a:p>
          <a:p>
            <a:pPr indent="0" marL="0">
              <a:buNone/>
            </a:pPr>
            <a:r>
              <a:rPr lang="en-US" sz="1500" dirty="0">
                <a:solidFill>
                  <a:schemeClr val="bg1"/>
                </a:solidFill>
              </a:rPr>
              <a:t>the graph is sparse, edges arrive as a list, or you need a spanning forest.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B5A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Real-World Applications</a:t>
            </a:r>
            <a:endParaRPr lang="en-US" sz="3600" dirty="0"/>
          </a:p>
        </p:txBody>
      </p:sp>
      <p:sp>
        <p:nvSpPr>
          <p:cNvPr id="4" name="Shape 1"/>
          <p:cNvSpPr/>
          <p:nvPr/>
        </p:nvSpPr>
        <p:spPr>
          <a:xfrm>
            <a:off x="548640" y="1371600"/>
            <a:ext cx="5394960" cy="1920240"/>
          </a:xfrm>
          <a:prstGeom prst="roundRect">
            <a:avLst>
              <a:gd name="adj" fmla="val 5714"/>
            </a:avLst>
          </a:prstGeom>
          <a:solidFill>
            <a:schemeClr val="bg2"/>
          </a:solidFill>
          <a:ln/>
        </p:spPr>
      </p:sp>
      <p:sp>
        <p:nvSpPr>
          <p:cNvPr id="5" name="Shape 2"/>
          <p:cNvSpPr/>
          <p:nvPr/>
        </p:nvSpPr>
        <p:spPr>
          <a:xfrm>
            <a:off x="822960" y="1737360"/>
            <a:ext cx="822960" cy="822960"/>
          </a:xfrm>
          <a:prstGeom prst="ellipse">
            <a:avLst/>
          </a:prstGeom>
          <a:solidFill>
            <a:schemeClr val="tx2"/>
          </a:solidFill>
          <a:ln/>
        </p:spPr>
      </p:sp>
      <p:pic>
        <p:nvPicPr>
          <p:cNvPr id="6" name="Image 0" descr="preencoded.png">    </p:cNvPr>
          <p:cNvPicPr>
            <a:picLocks noChangeAspect="1"/>
          </p:cNvPicPr>
          <p:nvPr/>
        </p:nvPicPr>
        <p:blipFill>
          <a:blip r:embed="rId1"/>
          <a:stretch>
            <a:fillRect/>
          </a:stretch>
        </p:blipFill>
        <p:spPr>
          <a:xfrm>
            <a:off x="1024128" y="1938528"/>
            <a:ext cx="420624" cy="420624"/>
          </a:xfrm>
          <a:prstGeom prst="rect">
            <a:avLst/>
          </a:prstGeom>
        </p:spPr>
      </p:pic>
      <p:sp>
        <p:nvSpPr>
          <p:cNvPr id="7" name="Text 3"/>
          <p:cNvSpPr txBox="1"/>
          <p:nvPr/>
        </p:nvSpPr>
        <p:spPr>
          <a:xfrm>
            <a:off x="1920240" y="1645920"/>
            <a:ext cx="3749040" cy="411480"/>
          </a:xfrm>
          <a:prstGeom prst="rect">
            <a:avLst/>
          </a:prstGeom>
          <a:noFill/>
          <a:ln/>
        </p:spPr>
        <p:txBody>
          <a:bodyPr wrap="square" lIns="0" tIns="0" rIns="0" bIns="0" rtlCol="0" anchor="t"/>
          <a:lstStyle/>
          <a:p>
            <a:pPr indent="0" marL="0">
              <a:buNone/>
            </a:pPr>
            <a:r>
              <a:rPr lang="en-US" sz="2000" b="1" dirty="0">
                <a:solidFill>
                  <a:schemeClr val="tx1"/>
                </a:solidFill>
              </a:rPr>
              <a:t>Network design</a:t>
            </a:r>
            <a:endParaRPr lang="en-US" sz="2000" dirty="0"/>
          </a:p>
        </p:txBody>
      </p:sp>
      <p:sp>
        <p:nvSpPr>
          <p:cNvPr id="8" name="Text 4"/>
          <p:cNvSpPr txBox="1"/>
          <p:nvPr/>
        </p:nvSpPr>
        <p:spPr>
          <a:xfrm>
            <a:off x="1920240" y="2103120"/>
            <a:ext cx="3749040" cy="1005840"/>
          </a:xfrm>
          <a:prstGeom prst="rect">
            <a:avLst/>
          </a:prstGeom>
          <a:noFill/>
          <a:ln/>
        </p:spPr>
        <p:txBody>
          <a:bodyPr wrap="square" lIns="0" tIns="0" rIns="0" bIns="0" rtlCol="0" anchor="t"/>
          <a:lstStyle/>
          <a:p>
            <a:pPr indent="0" marL="0">
              <a:buNone/>
            </a:pPr>
            <a:r>
              <a:rPr lang="en-US" sz="1500" dirty="0">
                <a:solidFill>
                  <a:schemeClr val="tx2"/>
                </a:solidFill>
              </a:rPr>
              <a:t>Lay fiber, power lines, water pipes and road links at minimum total cost.</a:t>
            </a:r>
            <a:endParaRPr lang="en-US" sz="1500" dirty="0"/>
          </a:p>
        </p:txBody>
      </p:sp>
      <p:sp>
        <p:nvSpPr>
          <p:cNvPr id="9" name="Shape 5"/>
          <p:cNvSpPr/>
          <p:nvPr/>
        </p:nvSpPr>
        <p:spPr>
          <a:xfrm>
            <a:off x="6217920" y="1371600"/>
            <a:ext cx="5394960" cy="1920240"/>
          </a:xfrm>
          <a:prstGeom prst="roundRect">
            <a:avLst>
              <a:gd name="adj" fmla="val 5714"/>
            </a:avLst>
          </a:prstGeom>
          <a:solidFill>
            <a:schemeClr val="bg2"/>
          </a:solidFill>
          <a:ln/>
        </p:spPr>
      </p:sp>
      <p:sp>
        <p:nvSpPr>
          <p:cNvPr id="10" name="Shape 6"/>
          <p:cNvSpPr/>
          <p:nvPr/>
        </p:nvSpPr>
        <p:spPr>
          <a:xfrm>
            <a:off x="6492240" y="1737360"/>
            <a:ext cx="822960" cy="822960"/>
          </a:xfrm>
          <a:prstGeom prst="ellipse">
            <a:avLst/>
          </a:prstGeom>
          <a:solidFill>
            <a:schemeClr val="tx2"/>
          </a:solidFill>
          <a:ln/>
        </p:spPr>
      </p:sp>
      <p:pic>
        <p:nvPicPr>
          <p:cNvPr id="11" name="Image 1" descr="preencoded.png">    </p:cNvPr>
          <p:cNvPicPr>
            <a:picLocks noChangeAspect="1"/>
          </p:cNvPicPr>
          <p:nvPr/>
        </p:nvPicPr>
        <p:blipFill>
          <a:blip r:embed="rId2"/>
          <a:stretch>
            <a:fillRect/>
          </a:stretch>
        </p:blipFill>
        <p:spPr>
          <a:xfrm>
            <a:off x="6693408" y="1938528"/>
            <a:ext cx="420624" cy="420624"/>
          </a:xfrm>
          <a:prstGeom prst="rect">
            <a:avLst/>
          </a:prstGeom>
        </p:spPr>
      </p:pic>
      <p:sp>
        <p:nvSpPr>
          <p:cNvPr id="12" name="Text 7"/>
          <p:cNvSpPr txBox="1"/>
          <p:nvPr/>
        </p:nvSpPr>
        <p:spPr>
          <a:xfrm>
            <a:off x="7589520" y="1645920"/>
            <a:ext cx="3749040" cy="411480"/>
          </a:xfrm>
          <a:prstGeom prst="rect">
            <a:avLst/>
          </a:prstGeom>
          <a:noFill/>
          <a:ln/>
        </p:spPr>
        <p:txBody>
          <a:bodyPr wrap="square" lIns="0" tIns="0" rIns="0" bIns="0" rtlCol="0" anchor="t"/>
          <a:lstStyle/>
          <a:p>
            <a:pPr indent="0" marL="0">
              <a:buNone/>
            </a:pPr>
            <a:r>
              <a:rPr lang="en-US" sz="2000" b="1" dirty="0">
                <a:solidFill>
                  <a:schemeClr val="tx1"/>
                </a:solidFill>
              </a:rPr>
              <a:t>Clustering</a:t>
            </a:r>
            <a:endParaRPr lang="en-US" sz="2000" dirty="0"/>
          </a:p>
        </p:txBody>
      </p:sp>
      <p:sp>
        <p:nvSpPr>
          <p:cNvPr id="13" name="Text 8"/>
          <p:cNvSpPr txBox="1"/>
          <p:nvPr/>
        </p:nvSpPr>
        <p:spPr>
          <a:xfrm>
            <a:off x="7589520" y="2103120"/>
            <a:ext cx="3749040" cy="1005840"/>
          </a:xfrm>
          <a:prstGeom prst="rect">
            <a:avLst/>
          </a:prstGeom>
          <a:noFill/>
          <a:ln/>
        </p:spPr>
        <p:txBody>
          <a:bodyPr wrap="square" lIns="0" tIns="0" rIns="0" bIns="0" rtlCol="0" anchor="t"/>
          <a:lstStyle/>
          <a:p>
            <a:pPr indent="0" marL="0">
              <a:buNone/>
            </a:pPr>
            <a:r>
              <a:rPr lang="en-US" sz="1500" dirty="0">
                <a:solidFill>
                  <a:schemeClr val="tx2"/>
                </a:solidFill>
              </a:rPr>
              <a:t>Build an MST over data points, then cut the heaviest edges to get single-linkage clusters.</a:t>
            </a:r>
            <a:endParaRPr lang="en-US" sz="1500" dirty="0"/>
          </a:p>
        </p:txBody>
      </p:sp>
      <p:sp>
        <p:nvSpPr>
          <p:cNvPr id="14" name="Shape 9"/>
          <p:cNvSpPr/>
          <p:nvPr/>
        </p:nvSpPr>
        <p:spPr>
          <a:xfrm>
            <a:off x="548640" y="3474720"/>
            <a:ext cx="5394960" cy="1920240"/>
          </a:xfrm>
          <a:prstGeom prst="roundRect">
            <a:avLst>
              <a:gd name="adj" fmla="val 5714"/>
            </a:avLst>
          </a:prstGeom>
          <a:solidFill>
            <a:schemeClr val="bg2"/>
          </a:solidFill>
          <a:ln/>
        </p:spPr>
      </p:sp>
      <p:sp>
        <p:nvSpPr>
          <p:cNvPr id="15" name="Shape 10"/>
          <p:cNvSpPr/>
          <p:nvPr/>
        </p:nvSpPr>
        <p:spPr>
          <a:xfrm>
            <a:off x="822960" y="3840480"/>
            <a:ext cx="822960" cy="822960"/>
          </a:xfrm>
          <a:prstGeom prst="ellipse">
            <a:avLst/>
          </a:prstGeom>
          <a:solidFill>
            <a:schemeClr val="tx2"/>
          </a:solidFill>
          <a:ln/>
        </p:spPr>
      </p:sp>
      <p:pic>
        <p:nvPicPr>
          <p:cNvPr id="16" name="Image 2" descr="preencoded.png">    </p:cNvPr>
          <p:cNvPicPr>
            <a:picLocks noChangeAspect="1"/>
          </p:cNvPicPr>
          <p:nvPr/>
        </p:nvPicPr>
        <p:blipFill>
          <a:blip r:embed="rId3"/>
          <a:stretch>
            <a:fillRect/>
          </a:stretch>
        </p:blipFill>
        <p:spPr>
          <a:xfrm>
            <a:off x="1024128" y="4041648"/>
            <a:ext cx="420624" cy="420624"/>
          </a:xfrm>
          <a:prstGeom prst="rect">
            <a:avLst/>
          </a:prstGeom>
        </p:spPr>
      </p:pic>
      <p:sp>
        <p:nvSpPr>
          <p:cNvPr id="17" name="Text 11"/>
          <p:cNvSpPr txBox="1"/>
          <p:nvPr/>
        </p:nvSpPr>
        <p:spPr>
          <a:xfrm>
            <a:off x="1920240" y="3749040"/>
            <a:ext cx="3749040" cy="411480"/>
          </a:xfrm>
          <a:prstGeom prst="rect">
            <a:avLst/>
          </a:prstGeom>
          <a:noFill/>
          <a:ln/>
        </p:spPr>
        <p:txBody>
          <a:bodyPr wrap="square" lIns="0" tIns="0" rIns="0" bIns="0" rtlCol="0" anchor="t"/>
          <a:lstStyle/>
          <a:p>
            <a:pPr indent="0" marL="0">
              <a:buNone/>
            </a:pPr>
            <a:r>
              <a:rPr lang="en-US" sz="2000" b="1" dirty="0">
                <a:solidFill>
                  <a:schemeClr val="tx1"/>
                </a:solidFill>
              </a:rPr>
              <a:t>TSP heuristics</a:t>
            </a:r>
            <a:endParaRPr lang="en-US" sz="2000" dirty="0"/>
          </a:p>
        </p:txBody>
      </p:sp>
      <p:sp>
        <p:nvSpPr>
          <p:cNvPr id="18" name="Text 12"/>
          <p:cNvSpPr txBox="1"/>
          <p:nvPr/>
        </p:nvSpPr>
        <p:spPr>
          <a:xfrm>
            <a:off x="1920240" y="4206240"/>
            <a:ext cx="3749040" cy="1005840"/>
          </a:xfrm>
          <a:prstGeom prst="rect">
            <a:avLst/>
          </a:prstGeom>
          <a:noFill/>
          <a:ln/>
        </p:spPr>
        <p:txBody>
          <a:bodyPr wrap="square" lIns="0" tIns="0" rIns="0" bIns="0" rtlCol="0" anchor="t"/>
          <a:lstStyle/>
          <a:p>
            <a:pPr indent="0" marL="0">
              <a:buNone/>
            </a:pPr>
            <a:r>
              <a:rPr lang="en-US" sz="1500" dirty="0">
                <a:solidFill>
                  <a:schemeClr val="tx2"/>
                </a:solidFill>
              </a:rPr>
              <a:t>A preorder walk of the MST gives a tour within 2× optimal for metric TSP.</a:t>
            </a:r>
            <a:endParaRPr lang="en-US" sz="1500" dirty="0"/>
          </a:p>
        </p:txBody>
      </p:sp>
      <p:sp>
        <p:nvSpPr>
          <p:cNvPr id="19" name="Shape 13"/>
          <p:cNvSpPr/>
          <p:nvPr/>
        </p:nvSpPr>
        <p:spPr>
          <a:xfrm>
            <a:off x="6217920" y="3474720"/>
            <a:ext cx="5394960" cy="1920240"/>
          </a:xfrm>
          <a:prstGeom prst="roundRect">
            <a:avLst>
              <a:gd name="adj" fmla="val 5714"/>
            </a:avLst>
          </a:prstGeom>
          <a:solidFill>
            <a:schemeClr val="bg2"/>
          </a:solidFill>
          <a:ln/>
        </p:spPr>
      </p:sp>
      <p:sp>
        <p:nvSpPr>
          <p:cNvPr id="20" name="Shape 14"/>
          <p:cNvSpPr/>
          <p:nvPr/>
        </p:nvSpPr>
        <p:spPr>
          <a:xfrm>
            <a:off x="6492240" y="3840480"/>
            <a:ext cx="822960" cy="822960"/>
          </a:xfrm>
          <a:prstGeom prst="ellipse">
            <a:avLst/>
          </a:prstGeom>
          <a:solidFill>
            <a:schemeClr val="tx2"/>
          </a:solidFill>
          <a:ln/>
        </p:spPr>
      </p:sp>
      <p:pic>
        <p:nvPicPr>
          <p:cNvPr id="21" name="Image 3" descr="preencoded.png">    </p:cNvPr>
          <p:cNvPicPr>
            <a:picLocks noChangeAspect="1"/>
          </p:cNvPicPr>
          <p:nvPr/>
        </p:nvPicPr>
        <p:blipFill>
          <a:blip r:embed="rId4"/>
          <a:stretch>
            <a:fillRect/>
          </a:stretch>
        </p:blipFill>
        <p:spPr>
          <a:xfrm>
            <a:off x="6693408" y="4041648"/>
            <a:ext cx="420624" cy="420624"/>
          </a:xfrm>
          <a:prstGeom prst="rect">
            <a:avLst/>
          </a:prstGeom>
        </p:spPr>
      </p:pic>
      <p:sp>
        <p:nvSpPr>
          <p:cNvPr id="22" name="Text 15"/>
          <p:cNvSpPr txBox="1"/>
          <p:nvPr/>
        </p:nvSpPr>
        <p:spPr>
          <a:xfrm>
            <a:off x="7589520" y="3749040"/>
            <a:ext cx="3749040" cy="411480"/>
          </a:xfrm>
          <a:prstGeom prst="rect">
            <a:avLst/>
          </a:prstGeom>
          <a:noFill/>
          <a:ln/>
        </p:spPr>
        <p:txBody>
          <a:bodyPr wrap="square" lIns="0" tIns="0" rIns="0" bIns="0" rtlCol="0" anchor="t"/>
          <a:lstStyle/>
          <a:p>
            <a:pPr indent="0" marL="0">
              <a:buNone/>
            </a:pPr>
            <a:r>
              <a:rPr lang="en-US" sz="2000" b="1" dirty="0">
                <a:solidFill>
                  <a:schemeClr val="tx1"/>
                </a:solidFill>
              </a:rPr>
              <a:t>Circuit design (VLSI)</a:t>
            </a:r>
            <a:endParaRPr lang="en-US" sz="2000" dirty="0"/>
          </a:p>
        </p:txBody>
      </p:sp>
      <p:sp>
        <p:nvSpPr>
          <p:cNvPr id="23" name="Text 16"/>
          <p:cNvSpPr txBox="1"/>
          <p:nvPr/>
        </p:nvSpPr>
        <p:spPr>
          <a:xfrm>
            <a:off x="7589520" y="4206240"/>
            <a:ext cx="3749040" cy="1005840"/>
          </a:xfrm>
          <a:prstGeom prst="rect">
            <a:avLst/>
          </a:prstGeom>
          <a:noFill/>
          <a:ln/>
        </p:spPr>
        <p:txBody>
          <a:bodyPr wrap="square" lIns="0" tIns="0" rIns="0" bIns="0" rtlCol="0" anchor="t"/>
          <a:lstStyle/>
          <a:p>
            <a:pPr indent="0" marL="0">
              <a:buNone/>
            </a:pPr>
            <a:r>
              <a:rPr lang="en-US" sz="1500" dirty="0">
                <a:solidFill>
                  <a:schemeClr val="tx2"/>
                </a:solidFill>
              </a:rPr>
              <a:t>Minimize total wire length when connecting pins and components.</a:t>
            </a:r>
            <a:endParaRPr lang="en-US" sz="1500" dirty="0"/>
          </a:p>
        </p:txBody>
      </p:sp>
      <p:sp>
        <p:nvSpPr>
          <p:cNvPr id="24" name="Shape 17"/>
          <p:cNvSpPr/>
          <p:nvPr/>
        </p:nvSpPr>
        <p:spPr>
          <a:xfrm>
            <a:off x="548640" y="5623560"/>
            <a:ext cx="11064240" cy="594360"/>
          </a:xfrm>
          <a:prstGeom prst="roundRect">
            <a:avLst>
              <a:gd name="adj" fmla="val 18462"/>
            </a:avLst>
          </a:prstGeom>
          <a:solidFill>
            <a:schemeClr val="tx2"/>
          </a:solidFill>
          <a:ln/>
        </p:spPr>
      </p:sp>
      <p:sp>
        <p:nvSpPr>
          <p:cNvPr id="25" name="Text 18"/>
          <p:cNvSpPr txBox="1"/>
          <p:nvPr/>
        </p:nvSpPr>
        <p:spPr>
          <a:xfrm>
            <a:off x="548640" y="5623560"/>
            <a:ext cx="11064240" cy="594360"/>
          </a:xfrm>
          <a:prstGeom prst="rect">
            <a:avLst/>
          </a:prstGeom>
          <a:noFill/>
          <a:ln/>
        </p:spPr>
        <p:txBody>
          <a:bodyPr wrap="square" lIns="0" tIns="0" rIns="0" bIns="0" rtlCol="0" anchor="ctr"/>
          <a:lstStyle/>
          <a:p>
            <a:pPr algn="ctr" indent="0" marL="0">
              <a:buNone/>
            </a:pPr>
            <a:r>
              <a:rPr lang="en-US" sz="1800" i="1" dirty="0">
                <a:solidFill>
                  <a:schemeClr val="bg1"/>
                </a:solidFill>
                <a:latin typeface="Cambria" pitchFamily="34" charset="0"/>
                <a:ea typeface="Cambria" pitchFamily="34" charset="-122"/>
                <a:cs typeface="Cambria" pitchFamily="34" charset="-120"/>
              </a:rPr>
              <a:t>Greedy + the cut property = optimal connections</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B5A8"/>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PrimForest">
  <a:themeElements>
    <a:clrScheme name="PrimForest">
      <a:dk1>
        <a:srgbClr val="1E3D2F"/>
      </a:dk1>
      <a:lt1>
        <a:srgbClr val="F6FBF6"/>
      </a:lt1>
      <a:dk2>
        <a:srgbClr val="2F6B4F"/>
      </a:dk2>
      <a:lt2>
        <a:srgbClr val="E3F1E6"/>
      </a:lt2>
      <a:accent1>
        <a:srgbClr val="15A05A"/>
      </a:accent1>
      <a:accent2>
        <a:srgbClr val="F59E0B"/>
      </a:accent2>
      <a:accent3>
        <a:srgbClr val="EF4444"/>
      </a:accent3>
      <a:accent4>
        <a:srgbClr val="9333EA"/>
      </a:accent4>
      <a:accent5>
        <a:srgbClr val="A3B5A8"/>
      </a:accent5>
      <a:accent6>
        <a:srgbClr val="2E7D5B"/>
      </a:accent6>
      <a:hlink>
        <a:srgbClr val="2E7D5B"/>
      </a:hlink>
      <a:folHlink>
        <a:srgbClr val="A3B5A8"/>
      </a:folHlink>
    </a:clrScheme>
    <a:fontScheme name="PrimFore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Prim's Algorithm</dc:title>
  <dc:subject>PptxGenJS Presentation</dc:subject>
  <dc:creator>PptxGenJS</dc:creator>
  <cp:lastModifiedBy>PptxGenJS</cp:lastModifiedBy>
  <cp:revision>1</cp:revision>
  <dcterms:created xsi:type="dcterms:W3CDTF">2026-10-18T17:02:09Z</dcterms:created>
  <dcterms:modified xsi:type="dcterms:W3CDTF">2026-10-18T17:02:09Z</dcterms:modified>
</cp:coreProperties>
</file>